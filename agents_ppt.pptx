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8" r:id="rId3"/>
    <p:sldId id="288" r:id="rId4"/>
    <p:sldId id="289" r:id="rId5"/>
    <p:sldId id="284" r:id="rId6"/>
    <p:sldId id="280" r:id="rId7"/>
    <p:sldId id="261" r:id="rId8"/>
    <p:sldId id="260" r:id="rId9"/>
    <p:sldId id="259" r:id="rId10"/>
    <p:sldId id="281" r:id="rId11"/>
    <p:sldId id="285" r:id="rId12"/>
    <p:sldId id="262" r:id="rId13"/>
    <p:sldId id="263" r:id="rId14"/>
    <p:sldId id="257" r:id="rId15"/>
    <p:sldId id="265" r:id="rId16"/>
    <p:sldId id="264" r:id="rId17"/>
    <p:sldId id="282" r:id="rId18"/>
    <p:sldId id="286" r:id="rId19"/>
    <p:sldId id="267" r:id="rId20"/>
    <p:sldId id="268" r:id="rId21"/>
    <p:sldId id="269" r:id="rId22"/>
    <p:sldId id="270" r:id="rId23"/>
    <p:sldId id="271" r:id="rId24"/>
    <p:sldId id="272" r:id="rId25"/>
    <p:sldId id="273" r:id="rId26"/>
    <p:sldId id="287" r:id="rId27"/>
    <p:sldId id="275" r:id="rId28"/>
    <p:sldId id="276" r:id="rId29"/>
    <p:sldId id="277" r:id="rId30"/>
    <p:sldId id="27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71"/>
    <p:restoredTop sz="94737"/>
  </p:normalViewPr>
  <p:slideViewPr>
    <p:cSldViewPr snapToGrid="0">
      <p:cViewPr>
        <p:scale>
          <a:sx n="113" d="100"/>
          <a:sy n="113" d="100"/>
        </p:scale>
        <p:origin x="776" y="5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296815-CF0D-E547-A1A7-3C5EC3286544}" type="datetimeFigureOut">
              <a:rPr lang="en-US" smtClean="0"/>
              <a:t>9/8/26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E900D2-BCC8-E245-9902-09AB31BCC3B4}" type="slidenum">
              <a:rPr lang="en-US" smtClean="0"/>
              <a:t>‹#›</a:t>
            </a:fld>
            <a:endParaRPr lang="en-US"/>
          </a:p>
        </p:txBody>
      </p:sp>
    </p:spTree>
    <p:extLst>
      <p:ext uri="{BB962C8B-B14F-4D97-AF65-F5344CB8AC3E}">
        <p14:creationId xmlns:p14="http://schemas.microsoft.com/office/powerpoint/2010/main" val="2320191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E900D2-BCC8-E245-9902-09AB31BCC3B4}" type="slidenum">
              <a:rPr lang="en-US" smtClean="0"/>
              <a:t>9</a:t>
            </a:fld>
            <a:endParaRPr lang="en-US"/>
          </a:p>
        </p:txBody>
      </p:sp>
    </p:spTree>
    <p:extLst>
      <p:ext uri="{BB962C8B-B14F-4D97-AF65-F5344CB8AC3E}">
        <p14:creationId xmlns:p14="http://schemas.microsoft.com/office/powerpoint/2010/main" val="387446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3C224-8B80-7378-695F-58BF142DC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1E084-8BF1-E611-3319-2C30E880CB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ED4C47-87B1-AC96-89EC-36C75BFE42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73640E-3A9A-3F12-D453-EAB005AD0E92}"/>
              </a:ext>
            </a:extLst>
          </p:cNvPr>
          <p:cNvSpPr>
            <a:spLocks noGrp="1"/>
          </p:cNvSpPr>
          <p:nvPr>
            <p:ph type="sldNum" sz="quarter" idx="5"/>
          </p:nvPr>
        </p:nvSpPr>
        <p:spPr/>
        <p:txBody>
          <a:bodyPr/>
          <a:lstStyle/>
          <a:p>
            <a:fld id="{88E900D2-BCC8-E245-9902-09AB31BCC3B4}" type="slidenum">
              <a:rPr lang="en-US" smtClean="0"/>
              <a:t>10</a:t>
            </a:fld>
            <a:endParaRPr lang="en-US"/>
          </a:p>
        </p:txBody>
      </p:sp>
    </p:spTree>
    <p:extLst>
      <p:ext uri="{BB962C8B-B14F-4D97-AF65-F5344CB8AC3E}">
        <p14:creationId xmlns:p14="http://schemas.microsoft.com/office/powerpoint/2010/main" val="2908213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937F3-B98C-A259-5031-3761251B3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DB612-A522-BB4A-7811-43FD53210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B8489-E71B-F4C9-28DD-8402EA8691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24395A-2AA6-CE2B-A233-F8F6077208E8}"/>
              </a:ext>
            </a:extLst>
          </p:cNvPr>
          <p:cNvSpPr>
            <a:spLocks noGrp="1"/>
          </p:cNvSpPr>
          <p:nvPr>
            <p:ph type="sldNum" sz="quarter" idx="5"/>
          </p:nvPr>
        </p:nvSpPr>
        <p:spPr/>
        <p:txBody>
          <a:bodyPr/>
          <a:lstStyle/>
          <a:p>
            <a:fld id="{88E900D2-BCC8-E245-9902-09AB31BCC3B4}" type="slidenum">
              <a:rPr lang="en-US" smtClean="0"/>
              <a:t>17</a:t>
            </a:fld>
            <a:endParaRPr lang="en-US"/>
          </a:p>
        </p:txBody>
      </p:sp>
    </p:spTree>
    <p:extLst>
      <p:ext uri="{BB962C8B-B14F-4D97-AF65-F5344CB8AC3E}">
        <p14:creationId xmlns:p14="http://schemas.microsoft.com/office/powerpoint/2010/main" val="4219948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Credits: Content is taken from Weaviate Agents guide</a:t>
            </a:r>
          </a:p>
        </p:txBody>
      </p:sp>
      <p:sp>
        <p:nvSpPr>
          <p:cNvPr id="4" name="Slide Number Placeholder 3"/>
          <p:cNvSpPr>
            <a:spLocks noGrp="1"/>
          </p:cNvSpPr>
          <p:nvPr>
            <p:ph type="sldNum" sz="quarter" idx="5"/>
          </p:nvPr>
        </p:nvSpPr>
        <p:spPr/>
        <p:txBody>
          <a:bodyPr/>
          <a:lstStyle/>
          <a:p>
            <a:fld id="{0702C530-228F-8749-943F-87DBB152E841}" type="slidenum">
              <a:rPr lang="en-US" smtClean="0"/>
              <a:t>30</a:t>
            </a:fld>
            <a:endParaRPr lang="en-US"/>
          </a:p>
        </p:txBody>
      </p:sp>
    </p:spTree>
    <p:extLst>
      <p:ext uri="{BB962C8B-B14F-4D97-AF65-F5344CB8AC3E}">
        <p14:creationId xmlns:p14="http://schemas.microsoft.com/office/powerpoint/2010/main" val="2116774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F2359-8ED4-AB05-98FA-3E411766CC8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C284A02-20A5-85B4-3987-56E15AEABC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5426337-C6F5-656E-5EDF-2EC20954A6B5}"/>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5" name="Footer Placeholder 4">
            <a:extLst>
              <a:ext uri="{FF2B5EF4-FFF2-40B4-BE49-F238E27FC236}">
                <a16:creationId xmlns:a16="http://schemas.microsoft.com/office/drawing/2014/main" id="{524B7169-31B0-BAE6-5840-DB1652F894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9E76F2-D88D-E8F4-2CC7-A2B96402488C}"/>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457745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5198C-98F3-1DE0-B271-B5920A7055E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0D3C94B-71C6-AD70-6E59-569BA965B69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A2380B2-3975-7A7B-E765-58D5EE886586}"/>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5" name="Footer Placeholder 4">
            <a:extLst>
              <a:ext uri="{FF2B5EF4-FFF2-40B4-BE49-F238E27FC236}">
                <a16:creationId xmlns:a16="http://schemas.microsoft.com/office/drawing/2014/main" id="{7A7C12AA-ABA8-B084-2C24-2B1E114B98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79A18D-077B-9E8A-F32F-B2B86DADE27C}"/>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782509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4C845-11DA-4FD7-9700-0BF237C83C1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C2A5252-1092-A7F7-6A57-B6AD9BCD21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2072886-C064-A185-94A1-088225DE0040}"/>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5" name="Footer Placeholder 4">
            <a:extLst>
              <a:ext uri="{FF2B5EF4-FFF2-40B4-BE49-F238E27FC236}">
                <a16:creationId xmlns:a16="http://schemas.microsoft.com/office/drawing/2014/main" id="{0941C221-E14B-48AB-0788-C4C93E4BD8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E036B7-78F2-992A-6A1F-DF0361185CFD}"/>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31780229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E857F-AE0E-D7F1-E682-5CBE9981AAC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57772A8-E9B6-5AF0-E3E5-E64900D0586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A403BAC-1946-7AD8-C857-2863C6D4F44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B8DA866-0C1F-8857-B5EA-4AE9ED46BB87}"/>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6" name="Footer Placeholder 5">
            <a:extLst>
              <a:ext uri="{FF2B5EF4-FFF2-40B4-BE49-F238E27FC236}">
                <a16:creationId xmlns:a16="http://schemas.microsoft.com/office/drawing/2014/main" id="{D25EDC3E-6F46-054F-52D5-F2AFD1B071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2B01CC-80CF-3494-A0F7-DA52B51185F8}"/>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2775043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D9377-0934-4C40-2267-52D4319C1A9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2F1291E-0EA4-2AEC-63A0-D51A175C86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5508BDC-754D-40FE-F69A-025463F8701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FF30CFA-4D5E-DE84-1ED4-3EE52F45B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F2B75A2-CAA9-A3F7-CA44-B32121BAE34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4EDC868-57E3-1499-1504-74FC12A242B1}"/>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8" name="Footer Placeholder 7">
            <a:extLst>
              <a:ext uri="{FF2B5EF4-FFF2-40B4-BE49-F238E27FC236}">
                <a16:creationId xmlns:a16="http://schemas.microsoft.com/office/drawing/2014/main" id="{EEAE3927-4514-8CF2-BFDF-D380221EF3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F9DAA1-9D43-AF41-983B-715CB8044A91}"/>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3421459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71B3F-358D-9960-1CFD-9BADC097D0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2CACE23-C8CD-B139-4998-6973F97314AB}"/>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4" name="Footer Placeholder 3">
            <a:extLst>
              <a:ext uri="{FF2B5EF4-FFF2-40B4-BE49-F238E27FC236}">
                <a16:creationId xmlns:a16="http://schemas.microsoft.com/office/drawing/2014/main" id="{A6930118-ABE4-9F21-7EEF-3B5418BFDB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89DC1D7-8C1E-E096-7466-DF3A4B1E1D80}"/>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1850866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DA9E62-3496-4B76-92D2-AE11ACAD207F}"/>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3" name="Footer Placeholder 2">
            <a:extLst>
              <a:ext uri="{FF2B5EF4-FFF2-40B4-BE49-F238E27FC236}">
                <a16:creationId xmlns:a16="http://schemas.microsoft.com/office/drawing/2014/main" id="{AC1818C3-9DEF-7881-195B-A97A2279F17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91E4FF-053F-0BF7-703D-32F251C163D4}"/>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3210208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B5899-3CC1-6002-5B3B-1EC621BABAE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0AD2541-23B5-52BE-BF96-2ACC463951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080483D-A603-8E63-709B-1EDE49409A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74E54A3-305D-DF24-BBAD-3FE50FBEF2D1}"/>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6" name="Footer Placeholder 5">
            <a:extLst>
              <a:ext uri="{FF2B5EF4-FFF2-40B4-BE49-F238E27FC236}">
                <a16:creationId xmlns:a16="http://schemas.microsoft.com/office/drawing/2014/main" id="{D65D358B-E9A4-F090-F2FE-E8D71934AD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D526982-FDFA-E655-F24B-F4CACFA4BD41}"/>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1220517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AE2DD-51F0-6F90-6B6E-0CD7934D7AD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A46F6C3-9ECA-E436-60D6-A64F5781DE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06FA67B-CFD1-B81A-3D18-7859DBB97B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72812F-7F4A-F95C-A86F-5B5F21601C23}"/>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6" name="Footer Placeholder 5">
            <a:extLst>
              <a:ext uri="{FF2B5EF4-FFF2-40B4-BE49-F238E27FC236}">
                <a16:creationId xmlns:a16="http://schemas.microsoft.com/office/drawing/2014/main" id="{7D7089D7-04CD-F3C0-53B9-AB735B680B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E41491-8FAB-8458-EB9D-D04620413A36}"/>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3790035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5E638-FADC-CBA0-13F7-E9CB5E0D764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09F11DD-831D-3F59-4487-625E2F76C9B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5D9BAC-F262-9E2E-891F-242E9E007736}"/>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5" name="Footer Placeholder 4">
            <a:extLst>
              <a:ext uri="{FF2B5EF4-FFF2-40B4-BE49-F238E27FC236}">
                <a16:creationId xmlns:a16="http://schemas.microsoft.com/office/drawing/2014/main" id="{A451A408-2550-020D-72D6-5C0374893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870CCD-63FF-6DF9-EF5A-D870C403488D}"/>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2403100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D5B4B7-DA01-5F74-1E75-F60612E38705}"/>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155F686-EFE9-1896-D6F3-AFD7E5D649A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C018727-1437-7052-A774-DC7FB1D6127C}"/>
              </a:ext>
            </a:extLst>
          </p:cNvPr>
          <p:cNvSpPr>
            <a:spLocks noGrp="1"/>
          </p:cNvSpPr>
          <p:nvPr>
            <p:ph type="dt" sz="half" idx="10"/>
          </p:nvPr>
        </p:nvSpPr>
        <p:spPr/>
        <p:txBody>
          <a:bodyPr/>
          <a:lstStyle/>
          <a:p>
            <a:fld id="{14B9BBF7-EAC2-A143-A671-A8D1EAB2A344}" type="datetimeFigureOut">
              <a:rPr lang="en-US" smtClean="0"/>
              <a:t>9/8/26</a:t>
            </a:fld>
            <a:endParaRPr lang="en-US"/>
          </a:p>
        </p:txBody>
      </p:sp>
      <p:sp>
        <p:nvSpPr>
          <p:cNvPr id="5" name="Footer Placeholder 4">
            <a:extLst>
              <a:ext uri="{FF2B5EF4-FFF2-40B4-BE49-F238E27FC236}">
                <a16:creationId xmlns:a16="http://schemas.microsoft.com/office/drawing/2014/main" id="{75A6D744-F4E3-AE3B-2CBA-9C6F2488D2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E368E0-79AE-9D07-B12C-4B00A950FD5A}"/>
              </a:ext>
            </a:extLst>
          </p:cNvPr>
          <p:cNvSpPr>
            <a:spLocks noGrp="1"/>
          </p:cNvSpPr>
          <p:nvPr>
            <p:ph type="sldNum" sz="quarter" idx="12"/>
          </p:nvPr>
        </p:nvSpPr>
        <p:spPr/>
        <p:txBody>
          <a:bodyPr/>
          <a:lstStyle/>
          <a:p>
            <a:fld id="{FCD3C901-2883-C74B-9E1D-9F294222F7D7}" type="slidenum">
              <a:rPr lang="en-US" smtClean="0"/>
              <a:t>‹#›</a:t>
            </a:fld>
            <a:endParaRPr lang="en-US"/>
          </a:p>
        </p:txBody>
      </p:sp>
    </p:spTree>
    <p:extLst>
      <p:ext uri="{BB962C8B-B14F-4D97-AF65-F5344CB8AC3E}">
        <p14:creationId xmlns:p14="http://schemas.microsoft.com/office/powerpoint/2010/main" val="206111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2F5959-D340-44B7-05ED-3CC1FC4B91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BDEFC27-59C6-9E06-02C6-EBC03EE964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8A15E1-F677-D751-355C-A7B303249BB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B9BBF7-EAC2-A143-A671-A8D1EAB2A344}" type="datetimeFigureOut">
              <a:rPr lang="en-US" smtClean="0"/>
              <a:t>9/8/26</a:t>
            </a:fld>
            <a:endParaRPr lang="en-US"/>
          </a:p>
        </p:txBody>
      </p:sp>
      <p:sp>
        <p:nvSpPr>
          <p:cNvPr id="5" name="Footer Placeholder 4">
            <a:extLst>
              <a:ext uri="{FF2B5EF4-FFF2-40B4-BE49-F238E27FC236}">
                <a16:creationId xmlns:a16="http://schemas.microsoft.com/office/drawing/2014/main" id="{91E41D30-C503-8812-7F83-36DA749F40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0CA1940-CB41-47CD-DA74-A36A928E59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D3C901-2883-C74B-9E1D-9F294222F7D7}" type="slidenum">
              <a:rPr lang="en-US" smtClean="0"/>
              <a:t>‹#›</a:t>
            </a:fld>
            <a:endParaRPr lang="en-US"/>
          </a:p>
        </p:txBody>
      </p:sp>
    </p:spTree>
    <p:extLst>
      <p:ext uri="{BB962C8B-B14F-4D97-AF65-F5344CB8AC3E}">
        <p14:creationId xmlns:p14="http://schemas.microsoft.com/office/powerpoint/2010/main" val="31137231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docs.agno.com/introduction" TargetMode="External"/><Relationship Id="rId2" Type="http://schemas.openxmlformats.org/officeDocument/2006/relationships/hyperlink" Target="https://qdrant.tech/documentation/" TargetMode="External"/><Relationship Id="rId1" Type="http://schemas.openxmlformats.org/officeDocument/2006/relationships/slideLayout" Target="../slideLayouts/slideLayout1.xml"/><Relationship Id="rId5" Type="http://schemas.openxmlformats.org/officeDocument/2006/relationships/hyperlink" Target="https://login.cloud.qdrant.io/" TargetMode="External"/><Relationship Id="rId4" Type="http://schemas.openxmlformats.org/officeDocument/2006/relationships/hyperlink" Target="https://mlflow.org/docs/latest/"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D67BA-8D56-37E2-2354-02B68E56DDEA}"/>
              </a:ext>
            </a:extLst>
          </p:cNvPr>
          <p:cNvSpPr>
            <a:spLocks noGrp="1"/>
          </p:cNvSpPr>
          <p:nvPr>
            <p:ph type="ctrTitle"/>
          </p:nvPr>
        </p:nvSpPr>
        <p:spPr/>
        <p:txBody>
          <a:bodyPr/>
          <a:lstStyle/>
          <a:p>
            <a:r>
              <a:rPr lang="en-US" dirty="0"/>
              <a:t>Building Multi-Agent Systems</a:t>
            </a:r>
          </a:p>
        </p:txBody>
      </p:sp>
      <p:sp>
        <p:nvSpPr>
          <p:cNvPr id="3" name="Subtitle 2">
            <a:extLst>
              <a:ext uri="{FF2B5EF4-FFF2-40B4-BE49-F238E27FC236}">
                <a16:creationId xmlns:a16="http://schemas.microsoft.com/office/drawing/2014/main" id="{A0703E91-613D-0FB5-2B55-990E562F8F08}"/>
              </a:ext>
            </a:extLst>
          </p:cNvPr>
          <p:cNvSpPr>
            <a:spLocks noGrp="1"/>
          </p:cNvSpPr>
          <p:nvPr>
            <p:ph type="subTitle" idx="1"/>
          </p:nvPr>
        </p:nvSpPr>
        <p:spPr/>
        <p:txBody>
          <a:bodyPr/>
          <a:lstStyle/>
          <a:p>
            <a:r>
              <a:rPr lang="en-US" dirty="0"/>
              <a:t>By M K Pavan Kumar</a:t>
            </a:r>
          </a:p>
        </p:txBody>
      </p:sp>
    </p:spTree>
    <p:extLst>
      <p:ext uri="{BB962C8B-B14F-4D97-AF65-F5344CB8AC3E}">
        <p14:creationId xmlns:p14="http://schemas.microsoft.com/office/powerpoint/2010/main" val="3435938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46BC5-AFE4-774D-8C90-C85FA1A8F8CD}"/>
              </a:ext>
            </a:extLst>
          </p:cNvPr>
          <p:cNvSpPr>
            <a:spLocks noGrp="1"/>
          </p:cNvSpPr>
          <p:nvPr>
            <p:ph type="title"/>
          </p:nvPr>
        </p:nvSpPr>
        <p:spPr/>
        <p:txBody>
          <a:bodyPr/>
          <a:lstStyle/>
          <a:p>
            <a:r>
              <a:rPr lang="en-IN" b="1" i="0" dirty="0">
                <a:effectLst/>
                <a:latin typeface="Inter"/>
              </a:rPr>
              <a:t>Agenda</a:t>
            </a:r>
            <a:endParaRPr lang="en-US" dirty="0"/>
          </a:p>
        </p:txBody>
      </p:sp>
      <p:sp>
        <p:nvSpPr>
          <p:cNvPr id="7" name="TextBox 6">
            <a:extLst>
              <a:ext uri="{FF2B5EF4-FFF2-40B4-BE49-F238E27FC236}">
                <a16:creationId xmlns:a16="http://schemas.microsoft.com/office/drawing/2014/main" id="{952B00A0-87BC-AC46-1CBF-54B093D3233B}"/>
              </a:ext>
            </a:extLst>
          </p:cNvPr>
          <p:cNvSpPr txBox="1"/>
          <p:nvPr/>
        </p:nvSpPr>
        <p:spPr>
          <a:xfrm>
            <a:off x="838200" y="1521196"/>
            <a:ext cx="5498823" cy="5078313"/>
          </a:xfrm>
          <a:prstGeom prst="rect">
            <a:avLst/>
          </a:prstGeom>
          <a:noFill/>
        </p:spPr>
        <p:txBody>
          <a:bodyPr wrap="square">
            <a:spAutoFit/>
          </a:bodyPr>
          <a:lstStyle/>
          <a:p>
            <a:pPr rtl="0">
              <a:buNone/>
            </a:pPr>
            <a:r>
              <a:rPr lang="en-IN" sz="1200" b="1" dirty="0"/>
              <a:t>Session 1: Foundations of AI Agents</a:t>
            </a:r>
            <a:endParaRPr lang="en-IN" sz="1200" dirty="0"/>
          </a:p>
          <a:p>
            <a:pPr marL="171450" lvl="0" indent="-171450" rtl="0">
              <a:buFont typeface="Arial" panose="020B0604020202020204" pitchFamily="34" charset="0"/>
              <a:buChar char="•"/>
            </a:pPr>
            <a:r>
              <a:rPr lang="en-IN" sz="1200" dirty="0"/>
              <a:t>What are Agents?</a:t>
            </a:r>
          </a:p>
          <a:p>
            <a:pPr marL="171450" lvl="0" indent="-171450" rtl="0">
              <a:buFont typeface="Arial" panose="020B0604020202020204" pitchFamily="34" charset="0"/>
              <a:buChar char="•"/>
            </a:pPr>
            <a:r>
              <a:rPr lang="en-IN" sz="1200" dirty="0"/>
              <a:t>Categories of AI Agents</a:t>
            </a:r>
          </a:p>
          <a:p>
            <a:pPr marL="171450" lvl="0" indent="-171450" rtl="0">
              <a:buFont typeface="Arial" panose="020B0604020202020204" pitchFamily="34" charset="0"/>
              <a:buChar char="•"/>
            </a:pPr>
            <a:r>
              <a:rPr lang="en-IN" sz="1200" dirty="0"/>
              <a:t>Design Patterns in AI Agents</a:t>
            </a:r>
          </a:p>
          <a:p>
            <a:pPr marL="171450" lvl="0" indent="-171450" rtl="0">
              <a:buFont typeface="Arial" panose="020B0604020202020204" pitchFamily="34" charset="0"/>
              <a:buChar char="•"/>
            </a:pPr>
            <a:r>
              <a:rPr lang="en-IN" sz="1200" dirty="0"/>
              <a:t>How Agents Work</a:t>
            </a:r>
          </a:p>
          <a:p>
            <a:pPr marL="171450" lvl="0" indent="-171450" rtl="0">
              <a:buFont typeface="Arial" panose="020B0604020202020204" pitchFamily="34" charset="0"/>
              <a:buChar char="•"/>
            </a:pPr>
            <a:r>
              <a:rPr lang="en-IN" sz="1200" dirty="0"/>
              <a:t>Hands-On: Building your first single agent with Agno</a:t>
            </a:r>
          </a:p>
          <a:p>
            <a:pPr rtl="0">
              <a:buNone/>
            </a:pPr>
            <a:endParaRPr lang="en-IN" sz="1200" b="1" dirty="0"/>
          </a:p>
          <a:p>
            <a:pPr rtl="0"/>
            <a:r>
              <a:rPr lang="en-IN" sz="1200" b="1" dirty="0"/>
              <a:t>Session 2: Multi-Agent Systems &amp; Protocols</a:t>
            </a:r>
          </a:p>
          <a:p>
            <a:pPr marL="171450" indent="-171450" rtl="0">
              <a:buFont typeface="Arial" panose="020B0604020202020204" pitchFamily="34" charset="0"/>
              <a:buChar char="•"/>
            </a:pPr>
            <a:r>
              <a:rPr lang="en-IN" sz="1200" dirty="0"/>
              <a:t>Multi-Agent Systems</a:t>
            </a:r>
          </a:p>
          <a:p>
            <a:pPr marL="171450" indent="-171450" rtl="0">
              <a:buFont typeface="Arial" panose="020B0604020202020204" pitchFamily="34" charset="0"/>
              <a:buChar char="•"/>
            </a:pPr>
            <a:r>
              <a:rPr lang="en-IN" sz="1200" dirty="0"/>
              <a:t>Agent2Agent (A2A) &amp; Model Context Protocol (MCP)</a:t>
            </a:r>
          </a:p>
          <a:p>
            <a:pPr marL="171450" indent="-171450" rtl="0">
              <a:buFont typeface="Arial" panose="020B0604020202020204" pitchFamily="34" charset="0"/>
              <a:buChar char="•"/>
            </a:pPr>
            <a:r>
              <a:rPr lang="en-IN" sz="1200" dirty="0"/>
              <a:t>Use Cases of AI Agents</a:t>
            </a:r>
          </a:p>
          <a:p>
            <a:pPr marL="171450" indent="-171450" rtl="0">
              <a:buFont typeface="Arial" panose="020B0604020202020204" pitchFamily="34" charset="0"/>
              <a:buChar char="•"/>
            </a:pPr>
            <a:r>
              <a:rPr lang="en-IN" sz="1200" dirty="0"/>
              <a:t>Architectures of RAG</a:t>
            </a:r>
          </a:p>
          <a:p>
            <a:pPr marL="171450" indent="-171450" rtl="0">
              <a:buFont typeface="Arial" panose="020B0604020202020204" pitchFamily="34" charset="0"/>
              <a:buChar char="•"/>
            </a:pPr>
            <a:r>
              <a:rPr lang="en-IN" sz="1200" dirty="0"/>
              <a:t>Latest Market Trends — A2A, MCP, ACP</a:t>
            </a:r>
          </a:p>
          <a:p>
            <a:pPr marL="171450" indent="-171450" rtl="0">
              <a:buFont typeface="Arial" panose="020B0604020202020204" pitchFamily="34" charset="0"/>
              <a:buChar char="•"/>
            </a:pPr>
            <a:r>
              <a:rPr lang="en-IN" sz="1200" dirty="0"/>
              <a:t>Hands-On: Multi-agent team with tools and an MCP server</a:t>
            </a:r>
          </a:p>
          <a:p>
            <a:pPr rtl="0">
              <a:buNone/>
            </a:pPr>
            <a:endParaRPr lang="en-IN" sz="1200" b="1" dirty="0"/>
          </a:p>
          <a:p>
            <a:pPr rtl="0">
              <a:buNone/>
            </a:pPr>
            <a:r>
              <a:rPr lang="en-IN" sz="1200" b="1" dirty="0"/>
              <a:t>Session 3: Context-Aware Agentic Workflows</a:t>
            </a:r>
            <a:endParaRPr lang="en-IN" sz="1200" dirty="0"/>
          </a:p>
          <a:p>
            <a:pPr marL="171450" indent="-171450" rtl="0">
              <a:buFont typeface="Arial" panose="020B0604020202020204" pitchFamily="34" charset="0"/>
              <a:buChar char="•"/>
            </a:pPr>
            <a:r>
              <a:rPr lang="en-IN" sz="1200" dirty="0"/>
              <a:t>Workflows vs. Agentic Workflows</a:t>
            </a:r>
          </a:p>
          <a:p>
            <a:pPr marL="171450" indent="-171450" rtl="0">
              <a:buFont typeface="Arial" panose="020B0604020202020204" pitchFamily="34" charset="0"/>
              <a:buChar char="•"/>
            </a:pPr>
            <a:r>
              <a:rPr lang="en-IN" sz="1200" dirty="0"/>
              <a:t>What makes a workflow Context-Aware</a:t>
            </a:r>
          </a:p>
          <a:p>
            <a:pPr marL="171450" indent="-171450" rtl="0">
              <a:buFont typeface="Arial" panose="020B0604020202020204" pitchFamily="34" charset="0"/>
              <a:buChar char="•"/>
            </a:pPr>
            <a:r>
              <a:rPr lang="en-IN" sz="1200" dirty="0"/>
              <a:t>Role of Memory — short-term, episodic, semantic, procedural</a:t>
            </a:r>
          </a:p>
          <a:p>
            <a:pPr marL="171450" indent="-171450" rtl="0">
              <a:buFont typeface="Arial" panose="020B0604020202020204" pitchFamily="34" charset="0"/>
              <a:buChar char="•"/>
            </a:pPr>
            <a:r>
              <a:rPr lang="en-IN" sz="1200" dirty="0"/>
              <a:t>Benefits and Limitations of Agentic Workflows</a:t>
            </a:r>
          </a:p>
          <a:p>
            <a:pPr marL="171450" indent="-171450" rtl="0">
              <a:buFont typeface="Arial" panose="020B0604020202020204" pitchFamily="34" charset="0"/>
              <a:buChar char="•"/>
            </a:pPr>
            <a:r>
              <a:rPr lang="en-IN" sz="1200" dirty="0"/>
              <a:t>When to choose an Agentic Workflow</a:t>
            </a:r>
          </a:p>
          <a:p>
            <a:pPr marL="171450" indent="-171450" rtl="0">
              <a:buFont typeface="Arial" panose="020B0604020202020204" pitchFamily="34" charset="0"/>
              <a:buChar char="•"/>
            </a:pPr>
            <a:r>
              <a:rPr lang="en-IN" sz="1200" dirty="0"/>
              <a:t>Real-world examples — enterprise platforms, Agentic RAG,</a:t>
            </a:r>
          </a:p>
          <a:p>
            <a:pPr marL="171450" indent="-171450" rtl="0">
              <a:buFont typeface="Arial" panose="020B0604020202020204" pitchFamily="34" charset="0"/>
              <a:buChar char="•"/>
            </a:pPr>
            <a:r>
              <a:rPr lang="en-IN" sz="1200" dirty="0"/>
              <a:t>clinical/legal/financial support systems</a:t>
            </a:r>
          </a:p>
          <a:p>
            <a:pPr marL="171450" indent="-171450" rtl="0">
              <a:buFont typeface="Arial" panose="020B0604020202020204" pitchFamily="34" charset="0"/>
              <a:buChar char="•"/>
            </a:pPr>
            <a:r>
              <a:rPr lang="en-IN" sz="1200" dirty="0"/>
              <a:t>Hands-On: Context-aware workflow with Qdrant-backed memory</a:t>
            </a:r>
          </a:p>
          <a:p>
            <a:pPr rtl="0">
              <a:buNone/>
            </a:pPr>
            <a:endParaRPr lang="en-IN" sz="1200" b="1" dirty="0"/>
          </a:p>
          <a:p>
            <a:pPr rtl="0">
              <a:buNone/>
            </a:pPr>
            <a:r>
              <a:rPr lang="en-IN" sz="1200" b="1" dirty="0"/>
              <a:t>Wrap-up &amp; Q&amp;A</a:t>
            </a:r>
            <a:endParaRPr lang="en-IN" sz="1200" dirty="0"/>
          </a:p>
        </p:txBody>
      </p:sp>
    </p:spTree>
    <p:extLst>
      <p:ext uri="{BB962C8B-B14F-4D97-AF65-F5344CB8AC3E}">
        <p14:creationId xmlns:p14="http://schemas.microsoft.com/office/powerpoint/2010/main" val="34541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19F7815-3AA2-7679-26F4-A63338C8B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68" y="4843169"/>
            <a:ext cx="12196668" cy="2016059"/>
            <a:chOff x="-4668" y="4843169"/>
            <a:chExt cx="12196668" cy="2016059"/>
          </a:xfrm>
        </p:grpSpPr>
        <p:sp>
          <p:nvSpPr>
            <p:cNvPr id="11" name="Rectangle 10">
              <a:extLst>
                <a:ext uri="{FF2B5EF4-FFF2-40B4-BE49-F238E27FC236}">
                  <a16:creationId xmlns:a16="http://schemas.microsoft.com/office/drawing/2014/main" id="{656154CE-3587-5C44-2A6B-1FE49B302C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68" y="4843169"/>
              <a:ext cx="12196668" cy="2015947"/>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E7A46DB-98C4-E666-AEC5-DF8B5DD9E7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4400"/>
              <a:ext cx="10565988" cy="2014828"/>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F8962A-028A-2EBA-FBCF-F9B033440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3170"/>
              <a:ext cx="10309010" cy="2006799"/>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F139663-D7C2-5898-E610-2183584AC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05876" y="4851203"/>
              <a:ext cx="8086124" cy="200679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5C5F87DA-C82D-11BF-DCD1-9B044DD9D9B0}"/>
              </a:ext>
            </a:extLst>
          </p:cNvPr>
          <p:cNvSpPr>
            <a:spLocks noGrp="1"/>
          </p:cNvSpPr>
          <p:nvPr>
            <p:ph type="title"/>
          </p:nvPr>
        </p:nvSpPr>
        <p:spPr>
          <a:xfrm>
            <a:off x="1611630" y="5167418"/>
            <a:ext cx="8949690" cy="702264"/>
          </a:xfrm>
        </p:spPr>
        <p:txBody>
          <a:bodyPr vert="horz" lIns="91440" tIns="45720" rIns="91440" bIns="45720" rtlCol="0" anchor="b">
            <a:normAutofit/>
          </a:bodyPr>
          <a:lstStyle/>
          <a:p>
            <a:pPr algn="ctr"/>
            <a:r>
              <a:rPr lang="en-US" sz="3600" kern="1200" dirty="0">
                <a:solidFill>
                  <a:srgbClr val="FFFFFF"/>
                </a:solidFill>
                <a:latin typeface="+mj-lt"/>
                <a:ea typeface="+mj-ea"/>
                <a:cs typeface="+mj-cs"/>
              </a:rPr>
              <a:t>Download the code</a:t>
            </a:r>
          </a:p>
        </p:txBody>
      </p:sp>
      <p:pic>
        <p:nvPicPr>
          <p:cNvPr id="5" name="Picture 4">
            <a:extLst>
              <a:ext uri="{FF2B5EF4-FFF2-40B4-BE49-F238E27FC236}">
                <a16:creationId xmlns:a16="http://schemas.microsoft.com/office/drawing/2014/main" id="{52A6A81E-2084-8297-F9E5-993E0E16C4BC}"/>
              </a:ext>
            </a:extLst>
          </p:cNvPr>
          <p:cNvPicPr>
            <a:picLocks noChangeAspect="1"/>
          </p:cNvPicPr>
          <p:nvPr/>
        </p:nvPicPr>
        <p:blipFill>
          <a:blip r:embed="rId2"/>
          <a:stretch>
            <a:fillRect/>
          </a:stretch>
        </p:blipFill>
        <p:spPr>
          <a:xfrm>
            <a:off x="4148511" y="461527"/>
            <a:ext cx="3894978" cy="3894978"/>
          </a:xfrm>
          <a:prstGeom prst="rect">
            <a:avLst/>
          </a:prstGeom>
        </p:spPr>
      </p:pic>
    </p:spTree>
    <p:extLst>
      <p:ext uri="{BB962C8B-B14F-4D97-AF65-F5344CB8AC3E}">
        <p14:creationId xmlns:p14="http://schemas.microsoft.com/office/powerpoint/2010/main" val="191799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B2466E-B330-4F93-871E-BB9965B1B4B8}"/>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A16D7B72-0E47-46FD-0277-63D2FFC4E1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68" y="4843169"/>
            <a:ext cx="12196668" cy="2016059"/>
            <a:chOff x="-4668" y="4843169"/>
            <a:chExt cx="12196668" cy="2016059"/>
          </a:xfrm>
        </p:grpSpPr>
        <p:sp>
          <p:nvSpPr>
            <p:cNvPr id="11" name="Rectangle 10">
              <a:extLst>
                <a:ext uri="{FF2B5EF4-FFF2-40B4-BE49-F238E27FC236}">
                  <a16:creationId xmlns:a16="http://schemas.microsoft.com/office/drawing/2014/main" id="{6AF6C346-002D-E31B-29C7-9FBEA2716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68" y="4843169"/>
              <a:ext cx="12196668" cy="2015947"/>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BAD3AB7-322B-8E09-155F-F4F91C4E78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4400"/>
              <a:ext cx="10565988" cy="2014828"/>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E75439C-215F-FF0B-1CAE-823E78C861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3170"/>
              <a:ext cx="10309010" cy="2006799"/>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D37D151-2BD0-62AA-3007-FAF3127ADF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05876" y="4851203"/>
              <a:ext cx="8086124" cy="200679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2" name="Title 1">
            <a:extLst>
              <a:ext uri="{FF2B5EF4-FFF2-40B4-BE49-F238E27FC236}">
                <a16:creationId xmlns:a16="http://schemas.microsoft.com/office/drawing/2014/main" id="{0654E659-EED7-96D9-1947-791898C1F5D8}"/>
              </a:ext>
            </a:extLst>
          </p:cNvPr>
          <p:cNvSpPr>
            <a:spLocks noGrp="1"/>
          </p:cNvSpPr>
          <p:nvPr>
            <p:ph type="title"/>
          </p:nvPr>
        </p:nvSpPr>
        <p:spPr>
          <a:xfrm>
            <a:off x="1611630" y="5167418"/>
            <a:ext cx="8949690" cy="702264"/>
          </a:xfrm>
        </p:spPr>
        <p:txBody>
          <a:bodyPr vert="horz" lIns="91440" tIns="45720" rIns="91440" bIns="45720" rtlCol="0" anchor="b">
            <a:normAutofit/>
          </a:bodyPr>
          <a:lstStyle/>
          <a:p>
            <a:pPr algn="ctr"/>
            <a:r>
              <a:rPr lang="en-US" sz="3600" kern="1200" dirty="0">
                <a:solidFill>
                  <a:srgbClr val="FFFFFF"/>
                </a:solidFill>
                <a:latin typeface="+mj-lt"/>
                <a:ea typeface="+mj-ea"/>
                <a:cs typeface="+mj-cs"/>
              </a:rPr>
              <a:t>Create Qdrant Account</a:t>
            </a:r>
          </a:p>
        </p:txBody>
      </p:sp>
      <p:pic>
        <p:nvPicPr>
          <p:cNvPr id="4" name="Picture 3">
            <a:extLst>
              <a:ext uri="{FF2B5EF4-FFF2-40B4-BE49-F238E27FC236}">
                <a16:creationId xmlns:a16="http://schemas.microsoft.com/office/drawing/2014/main" id="{2158EE39-35C3-DF4C-9C93-B0A2BEF978AC}"/>
              </a:ext>
            </a:extLst>
          </p:cNvPr>
          <p:cNvPicPr>
            <a:picLocks noChangeAspect="1"/>
          </p:cNvPicPr>
          <p:nvPr/>
        </p:nvPicPr>
        <p:blipFill>
          <a:blip r:embed="rId2"/>
          <a:stretch>
            <a:fillRect/>
          </a:stretch>
        </p:blipFill>
        <p:spPr>
          <a:xfrm>
            <a:off x="4313248" y="239076"/>
            <a:ext cx="3546454" cy="4611511"/>
          </a:xfrm>
          <a:prstGeom prst="rect">
            <a:avLst/>
          </a:prstGeom>
        </p:spPr>
      </p:pic>
    </p:spTree>
    <p:extLst>
      <p:ext uri="{BB962C8B-B14F-4D97-AF65-F5344CB8AC3E}">
        <p14:creationId xmlns:p14="http://schemas.microsoft.com/office/powerpoint/2010/main" val="532604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09D919B-FACA-CA92-425F-C61E17BC49A8}"/>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b="1" kern="1200">
                <a:solidFill>
                  <a:srgbClr val="FFFFFF"/>
                </a:solidFill>
                <a:latin typeface="+mj-lt"/>
                <a:ea typeface="+mj-ea"/>
                <a:cs typeface="+mj-cs"/>
              </a:rPr>
              <a:t>Foundations of AI Agents</a:t>
            </a:r>
            <a:endParaRPr lang="en-US" sz="8000" kern="1200">
              <a:solidFill>
                <a:srgbClr val="FFFFFF"/>
              </a:solidFill>
              <a:latin typeface="+mj-lt"/>
              <a:ea typeface="+mj-ea"/>
              <a:cs typeface="+mj-cs"/>
            </a:endParaRPr>
          </a:p>
        </p:txBody>
      </p:sp>
      <p:sp>
        <p:nvSpPr>
          <p:cNvPr id="9"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970146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96D67-BFDF-DEAC-D02A-85646F4C2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B6B2E-F0AD-306D-FD2B-AD1B2B3B9A12}"/>
              </a:ext>
            </a:extLst>
          </p:cNvPr>
          <p:cNvSpPr>
            <a:spLocks noGrp="1"/>
          </p:cNvSpPr>
          <p:nvPr>
            <p:ph type="title"/>
          </p:nvPr>
        </p:nvSpPr>
        <p:spPr/>
        <p:txBody>
          <a:bodyPr/>
          <a:lstStyle/>
          <a:p>
            <a:r>
              <a:rPr lang="en-IN" b="1" i="0" dirty="0">
                <a:effectLst/>
                <a:latin typeface="Inter"/>
              </a:rPr>
              <a:t>What are Agents?</a:t>
            </a:r>
            <a:endParaRPr lang="en-US" dirty="0"/>
          </a:p>
        </p:txBody>
      </p:sp>
      <p:pic>
        <p:nvPicPr>
          <p:cNvPr id="5" name="Content Placeholder 4">
            <a:extLst>
              <a:ext uri="{FF2B5EF4-FFF2-40B4-BE49-F238E27FC236}">
                <a16:creationId xmlns:a16="http://schemas.microsoft.com/office/drawing/2014/main" id="{037E4338-AE1B-4744-A7E7-1AFC02325E35}"/>
              </a:ext>
            </a:extLst>
          </p:cNvPr>
          <p:cNvPicPr>
            <a:picLocks noGrp="1" noChangeAspect="1"/>
          </p:cNvPicPr>
          <p:nvPr>
            <p:ph idx="1"/>
          </p:nvPr>
        </p:nvPicPr>
        <p:blipFill>
          <a:blip r:embed="rId2"/>
          <a:stretch>
            <a:fillRect/>
          </a:stretch>
        </p:blipFill>
        <p:spPr>
          <a:xfrm>
            <a:off x="0" y="1690688"/>
            <a:ext cx="12182511" cy="3005960"/>
          </a:xfrm>
        </p:spPr>
      </p:pic>
    </p:spTree>
    <p:extLst>
      <p:ext uri="{BB962C8B-B14F-4D97-AF65-F5344CB8AC3E}">
        <p14:creationId xmlns:p14="http://schemas.microsoft.com/office/powerpoint/2010/main" val="764091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1DFBB0-8B9C-726A-5B92-6044B9229F44}"/>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Categories of AI Agents</a:t>
            </a:r>
          </a:p>
        </p:txBody>
      </p:sp>
      <p:pic>
        <p:nvPicPr>
          <p:cNvPr id="5" name="Content Placeholder 4">
            <a:extLst>
              <a:ext uri="{FF2B5EF4-FFF2-40B4-BE49-F238E27FC236}">
                <a16:creationId xmlns:a16="http://schemas.microsoft.com/office/drawing/2014/main" id="{CBA495EB-C885-A411-A167-4FC03D81C715}"/>
              </a:ext>
            </a:extLst>
          </p:cNvPr>
          <p:cNvPicPr>
            <a:picLocks noGrp="1" noChangeAspect="1"/>
          </p:cNvPicPr>
          <p:nvPr>
            <p:ph idx="1"/>
          </p:nvPr>
        </p:nvPicPr>
        <p:blipFill>
          <a:blip r:embed="rId2"/>
          <a:stretch>
            <a:fillRect/>
          </a:stretch>
        </p:blipFill>
        <p:spPr>
          <a:xfrm>
            <a:off x="4746812" y="0"/>
            <a:ext cx="5932170" cy="6858000"/>
          </a:xfrm>
          <a:prstGeom prst="rect">
            <a:avLst/>
          </a:prstGeom>
        </p:spPr>
      </p:pic>
    </p:spTree>
    <p:extLst>
      <p:ext uri="{BB962C8B-B14F-4D97-AF65-F5344CB8AC3E}">
        <p14:creationId xmlns:p14="http://schemas.microsoft.com/office/powerpoint/2010/main" val="1933221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63F41-B081-9C2D-A980-1A32C2BC1ADF}"/>
              </a:ext>
            </a:extLst>
          </p:cNvPr>
          <p:cNvSpPr>
            <a:spLocks noGrp="1"/>
          </p:cNvSpPr>
          <p:nvPr>
            <p:ph type="title"/>
          </p:nvPr>
        </p:nvSpPr>
        <p:spPr/>
        <p:txBody>
          <a:bodyPr/>
          <a:lstStyle/>
          <a:p>
            <a:r>
              <a:rPr lang="en-US" dirty="0"/>
              <a:t>Design Patterns in AI Agents</a:t>
            </a:r>
          </a:p>
        </p:txBody>
      </p:sp>
      <p:pic>
        <p:nvPicPr>
          <p:cNvPr id="5" name="Content Placeholder 4">
            <a:extLst>
              <a:ext uri="{FF2B5EF4-FFF2-40B4-BE49-F238E27FC236}">
                <a16:creationId xmlns:a16="http://schemas.microsoft.com/office/drawing/2014/main" id="{B97FA8B4-D7FA-D55A-C838-D55761AFAA9D}"/>
              </a:ext>
            </a:extLst>
          </p:cNvPr>
          <p:cNvPicPr>
            <a:picLocks noGrp="1" noChangeAspect="1"/>
          </p:cNvPicPr>
          <p:nvPr>
            <p:ph idx="1"/>
          </p:nvPr>
        </p:nvPicPr>
        <p:blipFill>
          <a:blip r:embed="rId2"/>
          <a:stretch>
            <a:fillRect/>
          </a:stretch>
        </p:blipFill>
        <p:spPr>
          <a:xfrm>
            <a:off x="838200" y="2058194"/>
            <a:ext cx="10515600" cy="3886200"/>
          </a:xfrm>
        </p:spPr>
      </p:pic>
    </p:spTree>
    <p:extLst>
      <p:ext uri="{BB962C8B-B14F-4D97-AF65-F5344CB8AC3E}">
        <p14:creationId xmlns:p14="http://schemas.microsoft.com/office/powerpoint/2010/main" val="2890870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lowchart: Document 8">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754B9D-484E-DB0E-9A5B-5F3DB8B58145}"/>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How Agents Work ?</a:t>
            </a:r>
          </a:p>
        </p:txBody>
      </p:sp>
      <p:pic>
        <p:nvPicPr>
          <p:cNvPr id="4" name="Content Placeholder 3">
            <a:extLst>
              <a:ext uri="{FF2B5EF4-FFF2-40B4-BE49-F238E27FC236}">
                <a16:creationId xmlns:a16="http://schemas.microsoft.com/office/drawing/2014/main" id="{9ACCACAF-3CA6-FFC2-2FD3-EB66E0EC5E91}"/>
              </a:ext>
            </a:extLst>
          </p:cNvPr>
          <p:cNvPicPr>
            <a:picLocks noGrp="1" noChangeAspect="1"/>
          </p:cNvPicPr>
          <p:nvPr>
            <p:ph idx="1"/>
          </p:nvPr>
        </p:nvPicPr>
        <p:blipFill>
          <a:blip r:embed="rId3"/>
          <a:stretch>
            <a:fillRect/>
          </a:stretch>
        </p:blipFill>
        <p:spPr>
          <a:xfrm>
            <a:off x="3472459" y="0"/>
            <a:ext cx="8598046" cy="6602506"/>
          </a:xfrm>
          <a:prstGeom prst="rect">
            <a:avLst/>
          </a:prstGeom>
        </p:spPr>
      </p:pic>
    </p:spTree>
    <p:extLst>
      <p:ext uri="{BB962C8B-B14F-4D97-AF65-F5344CB8AC3E}">
        <p14:creationId xmlns:p14="http://schemas.microsoft.com/office/powerpoint/2010/main" val="1939128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8AF351-C536-FD7D-A3C2-825CEAC46B42}"/>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539C359-50A8-1F9A-454D-84FB6F7606AC}"/>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a:solidFill>
                  <a:srgbClr val="FFFFFF"/>
                </a:solidFill>
                <a:latin typeface="+mj-lt"/>
                <a:ea typeface="+mj-ea"/>
                <a:cs typeface="+mj-cs"/>
              </a:rPr>
              <a:t>Demo Time</a:t>
            </a:r>
          </a:p>
        </p:txBody>
      </p:sp>
      <p:sp>
        <p:nvSpPr>
          <p:cNvPr id="24" name="Rectangle 23">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3019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57531E-14DA-9A40-08A8-9B85F925AE0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0FB22CC0-4550-B460-9E6D-2BC2165A4D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AD95E9E-324C-1850-0E9B-1DE926FD959D}"/>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b="1" kern="1200" dirty="0">
                <a:solidFill>
                  <a:srgbClr val="FFFFFF"/>
                </a:solidFill>
                <a:latin typeface="+mj-lt"/>
                <a:ea typeface="+mj-ea"/>
                <a:cs typeface="+mj-cs"/>
              </a:rPr>
              <a:t>Multi-Agent System and Protocols</a:t>
            </a:r>
            <a:endParaRPr lang="en-US" sz="8000" kern="1200" dirty="0">
              <a:solidFill>
                <a:srgbClr val="FFFFFF"/>
              </a:solidFill>
              <a:latin typeface="+mj-lt"/>
              <a:ea typeface="+mj-ea"/>
              <a:cs typeface="+mj-cs"/>
            </a:endParaRPr>
          </a:p>
        </p:txBody>
      </p:sp>
      <p:sp>
        <p:nvSpPr>
          <p:cNvPr id="9" name="Graphic 13">
            <a:extLst>
              <a:ext uri="{FF2B5EF4-FFF2-40B4-BE49-F238E27FC236}">
                <a16:creationId xmlns:a16="http://schemas.microsoft.com/office/drawing/2014/main" id="{72555B20-C969-A06F-29AF-545527D0BF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2BA1DAA5-F806-1891-86E8-59E046553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BB5C68EE-0F66-ABCD-5192-7731E7D960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3CA3B3DF-34BA-4563-4F1B-88E72D26394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7104E4BE-BB5B-EBD1-6395-F33B212CA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3A220CD6-75C7-FF09-FC91-8F616B09D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C1FB0282-CBF4-2D3A-B3C8-606D5A135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73307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5D2DE-FE8C-5E67-03F1-3652A7E38015}"/>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Multi Agent Systems</a:t>
            </a:r>
          </a:p>
        </p:txBody>
      </p:sp>
      <p:pic>
        <p:nvPicPr>
          <p:cNvPr id="5" name="Content Placeholder 4">
            <a:extLst>
              <a:ext uri="{FF2B5EF4-FFF2-40B4-BE49-F238E27FC236}">
                <a16:creationId xmlns:a16="http://schemas.microsoft.com/office/drawing/2014/main" id="{EDEE28C9-318F-95D5-C137-6D1DC29DBA36}"/>
              </a:ext>
            </a:extLst>
          </p:cNvPr>
          <p:cNvPicPr>
            <a:picLocks noGrp="1" noChangeAspect="1"/>
          </p:cNvPicPr>
          <p:nvPr>
            <p:ph idx="1"/>
          </p:nvPr>
        </p:nvPicPr>
        <p:blipFill>
          <a:blip r:embed="rId2"/>
          <a:stretch>
            <a:fillRect/>
          </a:stretch>
        </p:blipFill>
        <p:spPr>
          <a:xfrm>
            <a:off x="2258291" y="0"/>
            <a:ext cx="7051928" cy="6858000"/>
          </a:xfrm>
          <a:prstGeom prst="rect">
            <a:avLst/>
          </a:prstGeom>
        </p:spPr>
      </p:pic>
    </p:spTree>
    <p:extLst>
      <p:ext uri="{BB962C8B-B14F-4D97-AF65-F5344CB8AC3E}">
        <p14:creationId xmlns:p14="http://schemas.microsoft.com/office/powerpoint/2010/main" val="1375003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8BAAE-D1F5-B749-C864-661C4AFB7881}"/>
              </a:ext>
            </a:extLst>
          </p:cNvPr>
          <p:cNvSpPr>
            <a:spLocks noGrp="1"/>
          </p:cNvSpPr>
          <p:nvPr>
            <p:ph type="title"/>
          </p:nvPr>
        </p:nvSpPr>
        <p:spPr/>
        <p:txBody>
          <a:bodyPr/>
          <a:lstStyle/>
          <a:p>
            <a:r>
              <a:rPr lang="en-US" dirty="0"/>
              <a:t>Agent2Agent &amp; MCP </a:t>
            </a:r>
          </a:p>
        </p:txBody>
      </p:sp>
      <p:pic>
        <p:nvPicPr>
          <p:cNvPr id="1026" name="Picture 2" descr="an illustrated flow chart showing the flow of data between the remote agent and the client agent to produce secure collaboration, task and state management, user experience negotiation, and capability discovery">
            <a:extLst>
              <a:ext uri="{FF2B5EF4-FFF2-40B4-BE49-F238E27FC236}">
                <a16:creationId xmlns:a16="http://schemas.microsoft.com/office/drawing/2014/main" id="{C33F4DD8-12AD-DFD1-C482-584D7C6B47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834" y="1690688"/>
            <a:ext cx="5713288" cy="40641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w to build your own MCP server? - by Aravind Putrevu">
            <a:extLst>
              <a:ext uri="{FF2B5EF4-FFF2-40B4-BE49-F238E27FC236}">
                <a16:creationId xmlns:a16="http://schemas.microsoft.com/office/drawing/2014/main" id="{B6146896-B6A0-3524-FBF8-F4EDA9D3CF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3114" y="995680"/>
            <a:ext cx="6268052" cy="486664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767CA66-3BE8-CB41-0F63-07CEAE35D2E7}"/>
              </a:ext>
            </a:extLst>
          </p:cNvPr>
          <p:cNvSpPr txBox="1"/>
          <p:nvPr/>
        </p:nvSpPr>
        <p:spPr>
          <a:xfrm>
            <a:off x="838200" y="1370289"/>
            <a:ext cx="2013693" cy="246221"/>
          </a:xfrm>
          <a:prstGeom prst="rect">
            <a:avLst/>
          </a:prstGeom>
          <a:noFill/>
        </p:spPr>
        <p:txBody>
          <a:bodyPr wrap="none" rtlCol="0">
            <a:spAutoFit/>
          </a:bodyPr>
          <a:lstStyle/>
          <a:p>
            <a:r>
              <a:rPr lang="en-US" sz="1000" dirty="0"/>
              <a:t>Credits: google docs and internet</a:t>
            </a:r>
          </a:p>
        </p:txBody>
      </p:sp>
    </p:spTree>
    <p:extLst>
      <p:ext uri="{BB962C8B-B14F-4D97-AF65-F5344CB8AC3E}">
        <p14:creationId xmlns:p14="http://schemas.microsoft.com/office/powerpoint/2010/main" val="1756316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B5580-98E2-F023-700C-49A80E62C7DC}"/>
              </a:ext>
            </a:extLst>
          </p:cNvPr>
          <p:cNvSpPr>
            <a:spLocks noGrp="1"/>
          </p:cNvSpPr>
          <p:nvPr>
            <p:ph type="title"/>
          </p:nvPr>
        </p:nvSpPr>
        <p:spPr/>
        <p:txBody>
          <a:bodyPr/>
          <a:lstStyle/>
          <a:p>
            <a:r>
              <a:rPr lang="en-IN" dirty="0"/>
              <a:t>Use Cases of AI Agents</a:t>
            </a:r>
            <a:endParaRPr lang="en-US" dirty="0"/>
          </a:p>
        </p:txBody>
      </p:sp>
      <p:pic>
        <p:nvPicPr>
          <p:cNvPr id="5" name="Content Placeholder 4">
            <a:extLst>
              <a:ext uri="{FF2B5EF4-FFF2-40B4-BE49-F238E27FC236}">
                <a16:creationId xmlns:a16="http://schemas.microsoft.com/office/drawing/2014/main" id="{13D8CAB0-E0B8-88EF-0859-836CB10E670B}"/>
              </a:ext>
            </a:extLst>
          </p:cNvPr>
          <p:cNvPicPr>
            <a:picLocks noGrp="1" noChangeAspect="1"/>
          </p:cNvPicPr>
          <p:nvPr>
            <p:ph idx="1"/>
          </p:nvPr>
        </p:nvPicPr>
        <p:blipFill>
          <a:blip r:embed="rId2"/>
          <a:stretch>
            <a:fillRect/>
          </a:stretch>
        </p:blipFill>
        <p:spPr>
          <a:xfrm>
            <a:off x="838200" y="1372394"/>
            <a:ext cx="10240962" cy="5120481"/>
          </a:xfrm>
        </p:spPr>
      </p:pic>
    </p:spTree>
    <p:extLst>
      <p:ext uri="{BB962C8B-B14F-4D97-AF65-F5344CB8AC3E}">
        <p14:creationId xmlns:p14="http://schemas.microsoft.com/office/powerpoint/2010/main" val="1589897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08AC0A8-91EF-D2B5-8020-44D73873E3A2}"/>
              </a:ext>
            </a:extLst>
          </p:cNvPr>
          <p:cNvPicPr>
            <a:picLocks noChangeAspect="1"/>
          </p:cNvPicPr>
          <p:nvPr/>
        </p:nvPicPr>
        <p:blipFill>
          <a:blip r:embed="rId2"/>
          <a:stretch>
            <a:fillRect/>
          </a:stretch>
        </p:blipFill>
        <p:spPr>
          <a:xfrm>
            <a:off x="6292795" y="2552627"/>
            <a:ext cx="5746241" cy="2154840"/>
          </a:xfrm>
          <a:prstGeom prst="rect">
            <a:avLst/>
          </a:prstGeom>
        </p:spPr>
      </p:pic>
      <p:pic>
        <p:nvPicPr>
          <p:cNvPr id="7" name="Picture 6">
            <a:extLst>
              <a:ext uri="{FF2B5EF4-FFF2-40B4-BE49-F238E27FC236}">
                <a16:creationId xmlns:a16="http://schemas.microsoft.com/office/drawing/2014/main" id="{F291C67C-6008-9E5A-CCB3-616616DACF4F}"/>
              </a:ext>
            </a:extLst>
          </p:cNvPr>
          <p:cNvPicPr>
            <a:picLocks noChangeAspect="1"/>
          </p:cNvPicPr>
          <p:nvPr/>
        </p:nvPicPr>
        <p:blipFill>
          <a:blip r:embed="rId3"/>
          <a:stretch>
            <a:fillRect/>
          </a:stretch>
        </p:blipFill>
        <p:spPr>
          <a:xfrm>
            <a:off x="114598" y="3838960"/>
            <a:ext cx="5860807" cy="2183151"/>
          </a:xfrm>
          <a:prstGeom prst="rect">
            <a:avLst/>
          </a:prstGeom>
        </p:spPr>
      </p:pic>
      <p:sp>
        <p:nvSpPr>
          <p:cNvPr id="13" name="Rectangle 12">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B70BDC1-88A8-81A2-CFEE-246524F2E64B}"/>
              </a:ext>
            </a:extLst>
          </p:cNvPr>
          <p:cNvPicPr>
            <a:picLocks noChangeAspect="1"/>
          </p:cNvPicPr>
          <p:nvPr/>
        </p:nvPicPr>
        <p:blipFill>
          <a:blip r:embed="rId4"/>
          <a:stretch>
            <a:fillRect/>
          </a:stretch>
        </p:blipFill>
        <p:spPr>
          <a:xfrm>
            <a:off x="152964" y="145445"/>
            <a:ext cx="5680279" cy="2925342"/>
          </a:xfrm>
          <a:prstGeom prst="rect">
            <a:avLst/>
          </a:prstGeom>
        </p:spPr>
      </p:pic>
    </p:spTree>
    <p:extLst>
      <p:ext uri="{BB962C8B-B14F-4D97-AF65-F5344CB8AC3E}">
        <p14:creationId xmlns:p14="http://schemas.microsoft.com/office/powerpoint/2010/main" val="3529232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1E5539EC-8CB8-002F-68C6-6788402826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26" name="Rectangle 25">
              <a:extLst>
                <a:ext uri="{FF2B5EF4-FFF2-40B4-BE49-F238E27FC236}">
                  <a16:creationId xmlns:a16="http://schemas.microsoft.com/office/drawing/2014/main" id="{6C5D55A6-9EFD-CDA3-20CC-A99812CE1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5B6E73B-6DFD-AE6C-1628-DF8DC30085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10E00FC4-DDBC-F424-CF71-73AF7A284A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984B262-E78D-A04B-1396-439F919BDF0B}"/>
              </a:ext>
            </a:extLst>
          </p:cNvPr>
          <p:cNvSpPr>
            <a:spLocks noGrp="1"/>
          </p:cNvSpPr>
          <p:nvPr>
            <p:ph type="title"/>
          </p:nvPr>
        </p:nvSpPr>
        <p:spPr>
          <a:xfrm>
            <a:off x="876691" y="301843"/>
            <a:ext cx="10477109" cy="1003532"/>
          </a:xfrm>
        </p:spPr>
        <p:txBody>
          <a:bodyPr anchor="ctr">
            <a:normAutofit/>
          </a:bodyPr>
          <a:lstStyle/>
          <a:p>
            <a:r>
              <a:rPr lang="en-US" sz="3200">
                <a:solidFill>
                  <a:srgbClr val="FFFFFF"/>
                </a:solidFill>
              </a:rPr>
              <a:t>Latest Market Trends</a:t>
            </a:r>
          </a:p>
        </p:txBody>
      </p:sp>
      <p:graphicFrame>
        <p:nvGraphicFramePr>
          <p:cNvPr id="9" name="Content Placeholder 8">
            <a:extLst>
              <a:ext uri="{FF2B5EF4-FFF2-40B4-BE49-F238E27FC236}">
                <a16:creationId xmlns:a16="http://schemas.microsoft.com/office/drawing/2014/main" id="{3086F61F-07CE-7BB2-DE3F-2EE8B52C14C8}"/>
              </a:ext>
            </a:extLst>
          </p:cNvPr>
          <p:cNvGraphicFramePr>
            <a:graphicFrameLocks noGrp="1"/>
          </p:cNvGraphicFramePr>
          <p:nvPr>
            <p:ph idx="1"/>
            <p:extLst>
              <p:ext uri="{D42A27DB-BD31-4B8C-83A1-F6EECF244321}">
                <p14:modId xmlns:p14="http://schemas.microsoft.com/office/powerpoint/2010/main" val="1128824610"/>
              </p:ext>
            </p:extLst>
          </p:nvPr>
        </p:nvGraphicFramePr>
        <p:xfrm>
          <a:off x="876690" y="2284929"/>
          <a:ext cx="10439011" cy="3596699"/>
        </p:xfrm>
        <a:graphic>
          <a:graphicData uri="http://schemas.openxmlformats.org/drawingml/2006/table">
            <a:tbl>
              <a:tblPr>
                <a:tableStyleId>{5C22544A-7EE6-4342-B048-85BDC9FD1C3A}</a:tableStyleId>
              </a:tblPr>
              <a:tblGrid>
                <a:gridCol w="1743673">
                  <a:extLst>
                    <a:ext uri="{9D8B030D-6E8A-4147-A177-3AD203B41FA5}">
                      <a16:colId xmlns:a16="http://schemas.microsoft.com/office/drawing/2014/main" val="3639305438"/>
                    </a:ext>
                  </a:extLst>
                </a:gridCol>
                <a:gridCol w="2294779">
                  <a:extLst>
                    <a:ext uri="{9D8B030D-6E8A-4147-A177-3AD203B41FA5}">
                      <a16:colId xmlns:a16="http://schemas.microsoft.com/office/drawing/2014/main" val="1217009252"/>
                    </a:ext>
                  </a:extLst>
                </a:gridCol>
                <a:gridCol w="4004079">
                  <a:extLst>
                    <a:ext uri="{9D8B030D-6E8A-4147-A177-3AD203B41FA5}">
                      <a16:colId xmlns:a16="http://schemas.microsoft.com/office/drawing/2014/main" val="761283424"/>
                    </a:ext>
                  </a:extLst>
                </a:gridCol>
                <a:gridCol w="2396480">
                  <a:extLst>
                    <a:ext uri="{9D8B030D-6E8A-4147-A177-3AD203B41FA5}">
                      <a16:colId xmlns:a16="http://schemas.microsoft.com/office/drawing/2014/main" val="2785386899"/>
                    </a:ext>
                  </a:extLst>
                </a:gridCol>
              </a:tblGrid>
              <a:tr h="248144">
                <a:tc>
                  <a:txBody>
                    <a:bodyPr/>
                    <a:lstStyle/>
                    <a:p>
                      <a:pPr>
                        <a:buNone/>
                      </a:pPr>
                      <a:r>
                        <a:rPr lang="en-IN" sz="1100"/>
                        <a:t>Protocol</a:t>
                      </a:r>
                    </a:p>
                  </a:txBody>
                  <a:tcPr marL="40035" marR="40035" marT="20017" marB="20017" anchor="ctr"/>
                </a:tc>
                <a:tc>
                  <a:txBody>
                    <a:bodyPr/>
                    <a:lstStyle/>
                    <a:p>
                      <a:pPr>
                        <a:buNone/>
                      </a:pPr>
                      <a:r>
                        <a:rPr lang="en-IN" sz="1100"/>
                        <a:t>Primary role</a:t>
                      </a:r>
                    </a:p>
                  </a:txBody>
                  <a:tcPr marL="40035" marR="40035" marT="20017" marB="20017" anchor="ctr"/>
                </a:tc>
                <a:tc>
                  <a:txBody>
                    <a:bodyPr/>
                    <a:lstStyle/>
                    <a:p>
                      <a:pPr algn="r">
                        <a:buNone/>
                      </a:pPr>
                      <a:r>
                        <a:rPr lang="en-IN" sz="1100"/>
                        <a:t>Latest measurable signal</a:t>
                      </a:r>
                    </a:p>
                  </a:txBody>
                  <a:tcPr marL="40035" marR="40035" marT="20017" marB="20017" anchor="ctr"/>
                </a:tc>
                <a:tc>
                  <a:txBody>
                    <a:bodyPr/>
                    <a:lstStyle/>
                    <a:p>
                      <a:pPr>
                        <a:buNone/>
                      </a:pPr>
                      <a:r>
                        <a:rPr lang="en-IN" sz="1100"/>
                        <a:t>Market direction</a:t>
                      </a:r>
                    </a:p>
                  </a:txBody>
                  <a:tcPr marL="40035" marR="40035" marT="20017" marB="20017" anchor="ctr"/>
                </a:tc>
                <a:extLst>
                  <a:ext uri="{0D108BD9-81ED-4DB2-BD59-A6C34878D82A}">
                    <a16:rowId xmlns:a16="http://schemas.microsoft.com/office/drawing/2014/main" val="856384217"/>
                  </a:ext>
                </a:extLst>
              </a:tr>
              <a:tr h="421567">
                <a:tc>
                  <a:txBody>
                    <a:bodyPr/>
                    <a:lstStyle/>
                    <a:p>
                      <a:pPr>
                        <a:buNone/>
                      </a:pPr>
                      <a:r>
                        <a:rPr lang="en-IN" sz="1100"/>
                        <a:t>MCP</a:t>
                      </a:r>
                    </a:p>
                  </a:txBody>
                  <a:tcPr marL="40035" marR="40035" marT="20017" marB="20017" anchor="ctr"/>
                </a:tc>
                <a:tc>
                  <a:txBody>
                    <a:bodyPr/>
                    <a:lstStyle/>
                    <a:p>
                      <a:pPr>
                        <a:buNone/>
                      </a:pPr>
                      <a:r>
                        <a:rPr lang="en-IN" sz="1100"/>
                        <a:t>Agent ↔ tools, APIs, data, context</a:t>
                      </a:r>
                    </a:p>
                  </a:txBody>
                  <a:tcPr marL="40035" marR="40035" marT="20017" marB="20017" anchor="ctr"/>
                </a:tc>
                <a:tc>
                  <a:txBody>
                    <a:bodyPr/>
                    <a:lstStyle/>
                    <a:p>
                      <a:pPr algn="r">
                        <a:buNone/>
                      </a:pPr>
                      <a:r>
                        <a:rPr lang="en-IN" sz="1100"/>
                        <a:t>~500M Tier-1 SDK downloads/month; Python and TypeScript SDKs have each crossed 1B cumulative downloads</a:t>
                      </a:r>
                    </a:p>
                  </a:txBody>
                  <a:tcPr marL="40035" marR="40035" marT="20017" marB="20017" anchor="ctr"/>
                </a:tc>
                <a:tc>
                  <a:txBody>
                    <a:bodyPr/>
                    <a:lstStyle/>
                    <a:p>
                      <a:pPr>
                        <a:buNone/>
                      </a:pPr>
                      <a:r>
                        <a:rPr lang="en-IN" sz="1100"/>
                        <a:t>🔥 Dominant tool/context standard</a:t>
                      </a:r>
                    </a:p>
                  </a:txBody>
                  <a:tcPr marL="40035" marR="40035" marT="20017" marB="20017" anchor="ctr"/>
                </a:tc>
                <a:extLst>
                  <a:ext uri="{0D108BD9-81ED-4DB2-BD59-A6C34878D82A}">
                    <a16:rowId xmlns:a16="http://schemas.microsoft.com/office/drawing/2014/main" val="2260963955"/>
                  </a:ext>
                </a:extLst>
              </a:tr>
              <a:tr h="421567">
                <a:tc>
                  <a:txBody>
                    <a:bodyPr/>
                    <a:lstStyle/>
                    <a:p>
                      <a:pPr>
                        <a:buNone/>
                      </a:pPr>
                      <a:r>
                        <a:rPr lang="en-IN" sz="1100"/>
                        <a:t>A2A</a:t>
                      </a:r>
                    </a:p>
                  </a:txBody>
                  <a:tcPr marL="40035" marR="40035" marT="20017" marB="20017" anchor="ctr"/>
                </a:tc>
                <a:tc>
                  <a:txBody>
                    <a:bodyPr/>
                    <a:lstStyle/>
                    <a:p>
                      <a:pPr>
                        <a:buNone/>
                      </a:pPr>
                      <a:r>
                        <a:rPr lang="en-IN" sz="1100"/>
                        <a:t>Agent ↔ agent</a:t>
                      </a:r>
                    </a:p>
                  </a:txBody>
                  <a:tcPr marL="40035" marR="40035" marT="20017" marB="20017" anchor="ctr"/>
                </a:tc>
                <a:tc>
                  <a:txBody>
                    <a:bodyPr/>
                    <a:lstStyle/>
                    <a:p>
                      <a:pPr algn="r">
                        <a:buNone/>
                      </a:pPr>
                      <a:r>
                        <a:rPr lang="en-IN" sz="1100"/>
                        <a:t>150+ supporting organizations, 25.7K GitHub stars, 5 production-ready SDK languages</a:t>
                      </a:r>
                    </a:p>
                  </a:txBody>
                  <a:tcPr marL="40035" marR="40035" marT="20017" marB="20017" anchor="ctr"/>
                </a:tc>
                <a:tc>
                  <a:txBody>
                    <a:bodyPr/>
                    <a:lstStyle/>
                    <a:p>
                      <a:pPr>
                        <a:buNone/>
                      </a:pPr>
                      <a:r>
                        <a:rPr lang="en-IN" sz="1100"/>
                        <a:t>🔥 Rapid enterprise standardization</a:t>
                      </a:r>
                    </a:p>
                  </a:txBody>
                  <a:tcPr marL="40035" marR="40035" marT="20017" marB="20017" anchor="ctr"/>
                </a:tc>
                <a:extLst>
                  <a:ext uri="{0D108BD9-81ED-4DB2-BD59-A6C34878D82A}">
                    <a16:rowId xmlns:a16="http://schemas.microsoft.com/office/drawing/2014/main" val="3771794560"/>
                  </a:ext>
                </a:extLst>
              </a:tr>
              <a:tr h="421567">
                <a:tc>
                  <a:txBody>
                    <a:bodyPr/>
                    <a:lstStyle/>
                    <a:p>
                      <a:pPr>
                        <a:buNone/>
                      </a:pPr>
                      <a:r>
                        <a:rPr lang="en-IN" sz="1100"/>
                        <a:t>ACP, Agent Communication Protocol</a:t>
                      </a:r>
                    </a:p>
                  </a:txBody>
                  <a:tcPr marL="40035" marR="40035" marT="20017" marB="20017" anchor="ctr"/>
                </a:tc>
                <a:tc>
                  <a:txBody>
                    <a:bodyPr/>
                    <a:lstStyle/>
                    <a:p>
                      <a:pPr>
                        <a:buNone/>
                      </a:pPr>
                      <a:r>
                        <a:rPr lang="en-IN" sz="1100"/>
                        <a:t>Agent ↔ agent</a:t>
                      </a:r>
                    </a:p>
                  </a:txBody>
                  <a:tcPr marL="40035" marR="40035" marT="20017" marB="20017" anchor="ctr"/>
                </a:tc>
                <a:tc>
                  <a:txBody>
                    <a:bodyPr/>
                    <a:lstStyle/>
                    <a:p>
                      <a:pPr algn="r">
                        <a:buNone/>
                      </a:pPr>
                      <a:r>
                        <a:rPr lang="en-IN" sz="1100"/>
                        <a:t>Development ended as standalone protocol; merged into A2A in Aug 2025</a:t>
                      </a:r>
                    </a:p>
                  </a:txBody>
                  <a:tcPr marL="40035" marR="40035" marT="20017" marB="20017" anchor="ctr"/>
                </a:tc>
                <a:tc>
                  <a:txBody>
                    <a:bodyPr/>
                    <a:lstStyle/>
                    <a:p>
                      <a:pPr>
                        <a:buNone/>
                      </a:pPr>
                      <a:r>
                        <a:rPr lang="en-IN" sz="1100"/>
                        <a:t>⛔ Consolidated into A2A</a:t>
                      </a:r>
                    </a:p>
                  </a:txBody>
                  <a:tcPr marL="40035" marR="40035" marT="20017" marB="20017" anchor="ctr"/>
                </a:tc>
                <a:extLst>
                  <a:ext uri="{0D108BD9-81ED-4DB2-BD59-A6C34878D82A}">
                    <a16:rowId xmlns:a16="http://schemas.microsoft.com/office/drawing/2014/main" val="3566211006"/>
                  </a:ext>
                </a:extLst>
              </a:tr>
              <a:tr h="248144">
                <a:tc>
                  <a:txBody>
                    <a:bodyPr/>
                    <a:lstStyle/>
                    <a:p>
                      <a:pPr>
                        <a:buNone/>
                      </a:pPr>
                      <a:r>
                        <a:rPr lang="en-IN" sz="1100"/>
                        <a:t>AG-UI</a:t>
                      </a:r>
                    </a:p>
                  </a:txBody>
                  <a:tcPr marL="40035" marR="40035" marT="20017" marB="20017" anchor="ctr"/>
                </a:tc>
                <a:tc>
                  <a:txBody>
                    <a:bodyPr/>
                    <a:lstStyle/>
                    <a:p>
                      <a:pPr>
                        <a:buNone/>
                      </a:pPr>
                      <a:r>
                        <a:rPr lang="en-IN" sz="1100"/>
                        <a:t>Agent ↔ application/user</a:t>
                      </a:r>
                    </a:p>
                  </a:txBody>
                  <a:tcPr marL="40035" marR="40035" marT="20017" marB="20017" anchor="ctr"/>
                </a:tc>
                <a:tc>
                  <a:txBody>
                    <a:bodyPr/>
                    <a:lstStyle/>
                    <a:p>
                      <a:pPr algn="r">
                        <a:buNone/>
                      </a:pPr>
                      <a:r>
                        <a:rPr lang="en-IN" sz="1100"/>
                        <a:t>15.4K GitHub stars, ~1.4K forks</a:t>
                      </a:r>
                    </a:p>
                  </a:txBody>
                  <a:tcPr marL="40035" marR="40035" marT="20017" marB="20017" anchor="ctr"/>
                </a:tc>
                <a:tc>
                  <a:txBody>
                    <a:bodyPr/>
                    <a:lstStyle/>
                    <a:p>
                      <a:pPr>
                        <a:buNone/>
                      </a:pPr>
                      <a:r>
                        <a:rPr lang="en-IN" sz="1100"/>
                        <a:t>📈 Strong emerging UI layer</a:t>
                      </a:r>
                    </a:p>
                  </a:txBody>
                  <a:tcPr marL="40035" marR="40035" marT="20017" marB="20017" anchor="ctr"/>
                </a:tc>
                <a:extLst>
                  <a:ext uri="{0D108BD9-81ED-4DB2-BD59-A6C34878D82A}">
                    <a16:rowId xmlns:a16="http://schemas.microsoft.com/office/drawing/2014/main" val="1737621921"/>
                  </a:ext>
                </a:extLst>
              </a:tr>
              <a:tr h="248144">
                <a:tc>
                  <a:txBody>
                    <a:bodyPr/>
                    <a:lstStyle/>
                    <a:p>
                      <a:pPr>
                        <a:buNone/>
                      </a:pPr>
                      <a:r>
                        <a:rPr lang="en-IN" sz="1100"/>
                        <a:t>A2UI</a:t>
                      </a:r>
                    </a:p>
                  </a:txBody>
                  <a:tcPr marL="40035" marR="40035" marT="20017" marB="20017" anchor="ctr"/>
                </a:tc>
                <a:tc>
                  <a:txBody>
                    <a:bodyPr/>
                    <a:lstStyle/>
                    <a:p>
                      <a:pPr>
                        <a:buNone/>
                      </a:pPr>
                      <a:r>
                        <a:rPr lang="en-IN" sz="1100"/>
                        <a:t>Agent-generated UI</a:t>
                      </a:r>
                    </a:p>
                  </a:txBody>
                  <a:tcPr marL="40035" marR="40035" marT="20017" marB="20017" anchor="ctr"/>
                </a:tc>
                <a:tc>
                  <a:txBody>
                    <a:bodyPr/>
                    <a:lstStyle/>
                    <a:p>
                      <a:pPr algn="r">
                        <a:buNone/>
                      </a:pPr>
                      <a:r>
                        <a:rPr lang="en-IN" sz="1100"/>
                        <a:t>16.3K GitHub stars, ~1.3K forks</a:t>
                      </a:r>
                    </a:p>
                  </a:txBody>
                  <a:tcPr marL="40035" marR="40035" marT="20017" marB="20017" anchor="ctr"/>
                </a:tc>
                <a:tc>
                  <a:txBody>
                    <a:bodyPr/>
                    <a:lstStyle/>
                    <a:p>
                      <a:pPr>
                        <a:buNone/>
                      </a:pPr>
                      <a:r>
                        <a:rPr lang="en-IN" sz="1100"/>
                        <a:t>📈 Rapid developer interest</a:t>
                      </a:r>
                    </a:p>
                  </a:txBody>
                  <a:tcPr marL="40035" marR="40035" marT="20017" marB="20017" anchor="ctr"/>
                </a:tc>
                <a:extLst>
                  <a:ext uri="{0D108BD9-81ED-4DB2-BD59-A6C34878D82A}">
                    <a16:rowId xmlns:a16="http://schemas.microsoft.com/office/drawing/2014/main" val="71680742"/>
                  </a:ext>
                </a:extLst>
              </a:tr>
              <a:tr h="248144">
                <a:tc>
                  <a:txBody>
                    <a:bodyPr/>
                    <a:lstStyle/>
                    <a:p>
                      <a:pPr>
                        <a:buNone/>
                      </a:pPr>
                      <a:r>
                        <a:rPr lang="en-IN" sz="1100"/>
                        <a:t>AP2</a:t>
                      </a:r>
                    </a:p>
                  </a:txBody>
                  <a:tcPr marL="40035" marR="40035" marT="20017" marB="20017" anchor="ctr"/>
                </a:tc>
                <a:tc>
                  <a:txBody>
                    <a:bodyPr/>
                    <a:lstStyle/>
                    <a:p>
                      <a:pPr>
                        <a:buNone/>
                      </a:pPr>
                      <a:r>
                        <a:rPr lang="en-IN" sz="1100"/>
                        <a:t>Agent ↔ payments</a:t>
                      </a:r>
                    </a:p>
                  </a:txBody>
                  <a:tcPr marL="40035" marR="40035" marT="20017" marB="20017" anchor="ctr"/>
                </a:tc>
                <a:tc>
                  <a:txBody>
                    <a:bodyPr/>
                    <a:lstStyle/>
                    <a:p>
                      <a:pPr algn="r">
                        <a:buNone/>
                      </a:pPr>
                      <a:r>
                        <a:rPr lang="en-IN" sz="1100"/>
                        <a:t>60+ organizations involved at launch; ~3K GitHub stars</a:t>
                      </a:r>
                    </a:p>
                  </a:txBody>
                  <a:tcPr marL="40035" marR="40035" marT="20017" marB="20017" anchor="ctr"/>
                </a:tc>
                <a:tc>
                  <a:txBody>
                    <a:bodyPr/>
                    <a:lstStyle/>
                    <a:p>
                      <a:pPr>
                        <a:buNone/>
                      </a:pPr>
                      <a:r>
                        <a:rPr lang="en-IN" sz="1100"/>
                        <a:t>🚀 Agentic payments emerging</a:t>
                      </a:r>
                    </a:p>
                  </a:txBody>
                  <a:tcPr marL="40035" marR="40035" marT="20017" marB="20017" anchor="ctr"/>
                </a:tc>
                <a:extLst>
                  <a:ext uri="{0D108BD9-81ED-4DB2-BD59-A6C34878D82A}">
                    <a16:rowId xmlns:a16="http://schemas.microsoft.com/office/drawing/2014/main" val="2871471320"/>
                  </a:ext>
                </a:extLst>
              </a:tr>
              <a:tr h="248144">
                <a:tc>
                  <a:txBody>
                    <a:bodyPr/>
                    <a:lstStyle/>
                    <a:p>
                      <a:pPr>
                        <a:buNone/>
                      </a:pPr>
                      <a:r>
                        <a:rPr lang="en-IN" sz="1100"/>
                        <a:t>UCP</a:t>
                      </a:r>
                    </a:p>
                  </a:txBody>
                  <a:tcPr marL="40035" marR="40035" marT="20017" marB="20017" anchor="ctr"/>
                </a:tc>
                <a:tc>
                  <a:txBody>
                    <a:bodyPr/>
                    <a:lstStyle/>
                    <a:p>
                      <a:pPr>
                        <a:buNone/>
                      </a:pPr>
                      <a:r>
                        <a:rPr lang="en-IN" sz="1100"/>
                        <a:t>Agent ↔ commerce</a:t>
                      </a:r>
                    </a:p>
                  </a:txBody>
                  <a:tcPr marL="40035" marR="40035" marT="20017" marB="20017" anchor="ctr"/>
                </a:tc>
                <a:tc>
                  <a:txBody>
                    <a:bodyPr/>
                    <a:lstStyle/>
                    <a:p>
                      <a:pPr algn="r">
                        <a:buNone/>
                      </a:pPr>
                      <a:r>
                        <a:rPr lang="en-IN" sz="1100"/>
                        <a:t>Backed by Google + Shopify, with 20+ ecosystem partners</a:t>
                      </a:r>
                    </a:p>
                  </a:txBody>
                  <a:tcPr marL="40035" marR="40035" marT="20017" marB="20017" anchor="ctr"/>
                </a:tc>
                <a:tc>
                  <a:txBody>
                    <a:bodyPr/>
                    <a:lstStyle/>
                    <a:p>
                      <a:pPr>
                        <a:buNone/>
                      </a:pPr>
                      <a:r>
                        <a:rPr lang="en-IN" sz="1100"/>
                        <a:t>🚀 Commerce standardization</a:t>
                      </a:r>
                    </a:p>
                  </a:txBody>
                  <a:tcPr marL="40035" marR="40035" marT="20017" marB="20017" anchor="ctr"/>
                </a:tc>
                <a:extLst>
                  <a:ext uri="{0D108BD9-81ED-4DB2-BD59-A6C34878D82A}">
                    <a16:rowId xmlns:a16="http://schemas.microsoft.com/office/drawing/2014/main" val="4090426455"/>
                  </a:ext>
                </a:extLst>
              </a:tr>
              <a:tr h="421567">
                <a:tc>
                  <a:txBody>
                    <a:bodyPr/>
                    <a:lstStyle/>
                    <a:p>
                      <a:pPr>
                        <a:buNone/>
                      </a:pPr>
                      <a:r>
                        <a:rPr lang="en-IN" sz="1100"/>
                        <a:t>ACP, Agentic Commerce Protocol</a:t>
                      </a:r>
                    </a:p>
                  </a:txBody>
                  <a:tcPr marL="40035" marR="40035" marT="20017" marB="20017" anchor="ctr"/>
                </a:tc>
                <a:tc>
                  <a:txBody>
                    <a:bodyPr/>
                    <a:lstStyle/>
                    <a:p>
                      <a:pPr>
                        <a:buNone/>
                      </a:pPr>
                      <a:r>
                        <a:rPr lang="en-IN" sz="1100"/>
                        <a:t>Agent ↔ merchant/checkout</a:t>
                      </a:r>
                    </a:p>
                  </a:txBody>
                  <a:tcPr marL="40035" marR="40035" marT="20017" marB="20017" anchor="ctr"/>
                </a:tc>
                <a:tc>
                  <a:txBody>
                    <a:bodyPr/>
                    <a:lstStyle/>
                    <a:p>
                      <a:pPr algn="r">
                        <a:buNone/>
                      </a:pPr>
                      <a:r>
                        <a:rPr lang="en-IN" sz="1100"/>
                        <a:t>~1.5K GitHub stars, maintained by OpenAI + Stripe, currently beta</a:t>
                      </a:r>
                    </a:p>
                  </a:txBody>
                  <a:tcPr marL="40035" marR="40035" marT="20017" marB="20017" anchor="ctr"/>
                </a:tc>
                <a:tc>
                  <a:txBody>
                    <a:bodyPr/>
                    <a:lstStyle/>
                    <a:p>
                      <a:pPr>
                        <a:buNone/>
                      </a:pPr>
                      <a:r>
                        <a:rPr lang="en-IN" sz="1100"/>
                        <a:t>📈 Competing/complementary commerce layer</a:t>
                      </a:r>
                    </a:p>
                  </a:txBody>
                  <a:tcPr marL="40035" marR="40035" marT="20017" marB="20017" anchor="ctr"/>
                </a:tc>
                <a:extLst>
                  <a:ext uri="{0D108BD9-81ED-4DB2-BD59-A6C34878D82A}">
                    <a16:rowId xmlns:a16="http://schemas.microsoft.com/office/drawing/2014/main" val="3384492720"/>
                  </a:ext>
                </a:extLst>
              </a:tr>
              <a:tr h="421567">
                <a:tc>
                  <a:txBody>
                    <a:bodyPr/>
                    <a:lstStyle/>
                    <a:p>
                      <a:pPr>
                        <a:buNone/>
                      </a:pPr>
                      <a:r>
                        <a:rPr lang="en-IN" sz="1100"/>
                        <a:t>ANP</a:t>
                      </a:r>
                    </a:p>
                  </a:txBody>
                  <a:tcPr marL="40035" marR="40035" marT="20017" marB="20017" anchor="ctr"/>
                </a:tc>
                <a:tc>
                  <a:txBody>
                    <a:bodyPr/>
                    <a:lstStyle/>
                    <a:p>
                      <a:pPr>
                        <a:buNone/>
                      </a:pPr>
                      <a:r>
                        <a:rPr lang="en-IN" sz="1100"/>
                        <a:t>Open agent-network communication/discovery</a:t>
                      </a:r>
                    </a:p>
                  </a:txBody>
                  <a:tcPr marL="40035" marR="40035" marT="20017" marB="20017" anchor="ctr"/>
                </a:tc>
                <a:tc>
                  <a:txBody>
                    <a:bodyPr/>
                    <a:lstStyle/>
                    <a:p>
                      <a:pPr algn="r">
                        <a:buNone/>
                      </a:pPr>
                      <a:r>
                        <a:rPr lang="en-IN" sz="1100"/>
                        <a:t>~1.3K GitHub stars</a:t>
                      </a:r>
                    </a:p>
                  </a:txBody>
                  <a:tcPr marL="40035" marR="40035" marT="20017" marB="20017" anchor="ctr"/>
                </a:tc>
                <a:tc>
                  <a:txBody>
                    <a:bodyPr/>
                    <a:lstStyle/>
                    <a:p>
                      <a:pPr>
                        <a:buNone/>
                      </a:pPr>
                      <a:r>
                        <a:rPr lang="en-IN" sz="1100"/>
                        <a:t>🧪 Experimental / niche</a:t>
                      </a:r>
                    </a:p>
                  </a:txBody>
                  <a:tcPr marL="40035" marR="40035" marT="20017" marB="20017" anchor="ctr"/>
                </a:tc>
                <a:extLst>
                  <a:ext uri="{0D108BD9-81ED-4DB2-BD59-A6C34878D82A}">
                    <a16:rowId xmlns:a16="http://schemas.microsoft.com/office/drawing/2014/main" val="2194728503"/>
                  </a:ext>
                </a:extLst>
              </a:tr>
              <a:tr h="248144">
                <a:tc>
                  <a:txBody>
                    <a:bodyPr/>
                    <a:lstStyle/>
                    <a:p>
                      <a:pPr>
                        <a:buNone/>
                      </a:pPr>
                      <a:r>
                        <a:rPr lang="en-IN" sz="1100"/>
                        <a:t>ANS / DNS-AID</a:t>
                      </a:r>
                    </a:p>
                  </a:txBody>
                  <a:tcPr marL="40035" marR="40035" marT="20017" marB="20017" anchor="ctr"/>
                </a:tc>
                <a:tc>
                  <a:txBody>
                    <a:bodyPr/>
                    <a:lstStyle/>
                    <a:p>
                      <a:pPr>
                        <a:buNone/>
                      </a:pPr>
                      <a:r>
                        <a:rPr lang="en-IN" sz="1100"/>
                        <a:t>Agent identity + discovery</a:t>
                      </a:r>
                    </a:p>
                  </a:txBody>
                  <a:tcPr marL="40035" marR="40035" marT="20017" marB="20017" anchor="ctr"/>
                </a:tc>
                <a:tc>
                  <a:txBody>
                    <a:bodyPr/>
                    <a:lstStyle/>
                    <a:p>
                      <a:pPr algn="r">
                        <a:buNone/>
                      </a:pPr>
                      <a:r>
                        <a:rPr lang="en-IN" sz="1100"/>
                        <a:t>Linux Foundation projects launched in 2026</a:t>
                      </a:r>
                    </a:p>
                  </a:txBody>
                  <a:tcPr marL="40035" marR="40035" marT="20017" marB="20017" anchor="ctr"/>
                </a:tc>
                <a:tc>
                  <a:txBody>
                    <a:bodyPr/>
                    <a:lstStyle/>
                    <a:p>
                      <a:pPr>
                        <a:buNone/>
                      </a:pPr>
                      <a:r>
                        <a:rPr lang="en-IN" sz="1100"/>
                        <a:t>🌱 Infrastructure layer emerging</a:t>
                      </a:r>
                    </a:p>
                  </a:txBody>
                  <a:tcPr marL="40035" marR="40035" marT="20017" marB="20017" anchor="ctr"/>
                </a:tc>
                <a:extLst>
                  <a:ext uri="{0D108BD9-81ED-4DB2-BD59-A6C34878D82A}">
                    <a16:rowId xmlns:a16="http://schemas.microsoft.com/office/drawing/2014/main" val="2343632778"/>
                  </a:ext>
                </a:extLst>
              </a:tr>
            </a:tbl>
          </a:graphicData>
        </a:graphic>
      </p:graphicFrame>
    </p:spTree>
    <p:extLst>
      <p:ext uri="{BB962C8B-B14F-4D97-AF65-F5344CB8AC3E}">
        <p14:creationId xmlns:p14="http://schemas.microsoft.com/office/powerpoint/2010/main" val="1678175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7701CAC-B850-DA88-1E18-815AC1AD1598}"/>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73EDC3A-4DCA-D0AB-12FF-BBAF6366E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AD957B-D459-2024-6CF9-0427FBEA1C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CB80726-7FD1-3F40-9A6F-93D06D877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38B7CB6-FFAE-C747-26EA-20C8B157DA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278F97D-8425-C5A5-B658-265858EC4A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EB8E56-2752-7396-C7E6-A08F90E680DE}"/>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a:solidFill>
                  <a:srgbClr val="FFFFFF"/>
                </a:solidFill>
                <a:latin typeface="+mj-lt"/>
                <a:ea typeface="+mj-ea"/>
                <a:cs typeface="+mj-cs"/>
              </a:rPr>
              <a:t>Demo Time</a:t>
            </a:r>
          </a:p>
        </p:txBody>
      </p:sp>
      <p:sp>
        <p:nvSpPr>
          <p:cNvPr id="24" name="Rectangle 23">
            <a:extLst>
              <a:ext uri="{FF2B5EF4-FFF2-40B4-BE49-F238E27FC236}">
                <a16:creationId xmlns:a16="http://schemas.microsoft.com/office/drawing/2014/main" id="{24323DA3-C3FF-7537-660C-7F522C540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895E16B-A030-41B1-A834-0C1D0F9784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7973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779BEE-43F8-C971-A6D7-6E147D333FB6}"/>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95A749E3-78BD-74ED-2DB4-FAB1822CEE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F3EA56E7-DA93-9257-CC19-410C379395E0}"/>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b="1" kern="1200" dirty="0">
                <a:solidFill>
                  <a:srgbClr val="FFFFFF"/>
                </a:solidFill>
                <a:latin typeface="+mj-lt"/>
                <a:ea typeface="+mj-ea"/>
                <a:cs typeface="+mj-cs"/>
              </a:rPr>
              <a:t>Context Aware Workflows</a:t>
            </a:r>
            <a:endParaRPr lang="en-US" sz="8000" kern="1200" dirty="0">
              <a:solidFill>
                <a:srgbClr val="FFFFFF"/>
              </a:solidFill>
              <a:latin typeface="+mj-lt"/>
              <a:ea typeface="+mj-ea"/>
              <a:cs typeface="+mj-cs"/>
            </a:endParaRPr>
          </a:p>
        </p:txBody>
      </p:sp>
      <p:sp>
        <p:nvSpPr>
          <p:cNvPr id="9" name="Graphic 13">
            <a:extLst>
              <a:ext uri="{FF2B5EF4-FFF2-40B4-BE49-F238E27FC236}">
                <a16:creationId xmlns:a16="http://schemas.microsoft.com/office/drawing/2014/main" id="{C3257DF2-42F8-E5A3-A2A0-F287441C24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1" name="Graphic 12">
            <a:extLst>
              <a:ext uri="{FF2B5EF4-FFF2-40B4-BE49-F238E27FC236}">
                <a16:creationId xmlns:a16="http://schemas.microsoft.com/office/drawing/2014/main" id="{195B94CE-4504-9FD4-9F84-C40A789D15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3" name="Graphic 15">
            <a:extLst>
              <a:ext uri="{FF2B5EF4-FFF2-40B4-BE49-F238E27FC236}">
                <a16:creationId xmlns:a16="http://schemas.microsoft.com/office/drawing/2014/main" id="{9EE4DAD5-C584-42F8-05DF-A97CA6E4C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5" name="Straight Connector 14">
            <a:extLst>
              <a:ext uri="{FF2B5EF4-FFF2-40B4-BE49-F238E27FC236}">
                <a16:creationId xmlns:a16="http://schemas.microsoft.com/office/drawing/2014/main" id="{155B13F0-4D34-858D-414F-67542E43B4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7" name="Graphic 22">
            <a:extLst>
              <a:ext uri="{FF2B5EF4-FFF2-40B4-BE49-F238E27FC236}">
                <a16:creationId xmlns:a16="http://schemas.microsoft.com/office/drawing/2014/main" id="{F8E6DDA5-B825-96F1-90D9-8EB2EB40C9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19" name="Graphic 23">
            <a:extLst>
              <a:ext uri="{FF2B5EF4-FFF2-40B4-BE49-F238E27FC236}">
                <a16:creationId xmlns:a16="http://schemas.microsoft.com/office/drawing/2014/main" id="{9133C624-293D-F544-ADE2-523A0289C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1" name="Graphic 21">
            <a:extLst>
              <a:ext uri="{FF2B5EF4-FFF2-40B4-BE49-F238E27FC236}">
                <a16:creationId xmlns:a16="http://schemas.microsoft.com/office/drawing/2014/main" id="{A1635242-D5B2-D5BC-B410-5ED538026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321255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AFA63-6FC3-858C-97F0-BDEE7CF75B4A}"/>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C7182F40-5ECB-4D37-E6F5-CDA62FD28793}"/>
              </a:ext>
            </a:extLst>
          </p:cNvPr>
          <p:cNvSpPr txBox="1">
            <a:spLocks/>
          </p:cNvSpPr>
          <p:nvPr/>
        </p:nvSpPr>
        <p:spPr>
          <a:xfrm>
            <a:off x="1472608" y="1380564"/>
            <a:ext cx="4561369" cy="2346229"/>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200" kern="1200" dirty="0">
                <a:solidFill>
                  <a:srgbClr val="595959"/>
                </a:solidFill>
                <a:latin typeface="+mj-lt"/>
                <a:ea typeface="+mj-ea"/>
                <a:cs typeface="+mj-cs"/>
              </a:rPr>
              <a:t>What are Workflows</a:t>
            </a:r>
          </a:p>
        </p:txBody>
      </p:sp>
      <p:sp>
        <p:nvSpPr>
          <p:cNvPr id="3" name="Subtitle 2">
            <a:extLst>
              <a:ext uri="{FF2B5EF4-FFF2-40B4-BE49-F238E27FC236}">
                <a16:creationId xmlns:a16="http://schemas.microsoft.com/office/drawing/2014/main" id="{0EC9BF31-E962-72D1-2D13-C48274D2ABD1}"/>
              </a:ext>
            </a:extLst>
          </p:cNvPr>
          <p:cNvSpPr>
            <a:spLocks noGrp="1"/>
          </p:cNvSpPr>
          <p:nvPr>
            <p:ph type="subTitle" idx="1"/>
          </p:nvPr>
        </p:nvSpPr>
        <p:spPr>
          <a:xfrm>
            <a:off x="1472608" y="4061345"/>
            <a:ext cx="4561369" cy="1416090"/>
          </a:xfrm>
        </p:spPr>
        <p:txBody>
          <a:bodyPr vert="horz" lIns="91440" tIns="45720" rIns="91440" bIns="45720" rtlCol="0" anchor="t">
            <a:normAutofit/>
          </a:bodyPr>
          <a:lstStyle/>
          <a:p>
            <a:r>
              <a:rPr lang="en-US" sz="1400" kern="1200" dirty="0">
                <a:solidFill>
                  <a:srgbClr val="595959"/>
                </a:solidFill>
                <a:latin typeface="+mn-lt"/>
                <a:ea typeface="+mn-ea"/>
                <a:cs typeface="+mn-cs"/>
              </a:rPr>
              <a:t>A workflow is a series of steps, activities, or tasks performed in a specific order to complete a goal. It defines the process from start to finish, dictating what needs to be done, who is responsible for each part, and the rules that govern the process.</a:t>
            </a:r>
          </a:p>
        </p:txBody>
      </p:sp>
      <p:pic>
        <p:nvPicPr>
          <p:cNvPr id="5" name="Picture 4">
            <a:extLst>
              <a:ext uri="{FF2B5EF4-FFF2-40B4-BE49-F238E27FC236}">
                <a16:creationId xmlns:a16="http://schemas.microsoft.com/office/drawing/2014/main" id="{68463E23-2CFD-F5F5-1BB2-027CA3539EE6}"/>
              </a:ext>
            </a:extLst>
          </p:cNvPr>
          <p:cNvPicPr>
            <a:picLocks noChangeAspect="1"/>
          </p:cNvPicPr>
          <p:nvPr/>
        </p:nvPicPr>
        <p:blipFill>
          <a:blip r:embed="rId2"/>
          <a:stretch>
            <a:fillRect/>
          </a:stretch>
        </p:blipFill>
        <p:spPr>
          <a:xfrm>
            <a:off x="6810935" y="1535315"/>
            <a:ext cx="4018430" cy="3787369"/>
          </a:xfrm>
          <a:prstGeom prst="rect">
            <a:avLst/>
          </a:prstGeom>
        </p:spPr>
      </p:pic>
    </p:spTree>
    <p:extLst>
      <p:ext uri="{BB962C8B-B14F-4D97-AF65-F5344CB8AC3E}">
        <p14:creationId xmlns:p14="http://schemas.microsoft.com/office/powerpoint/2010/main" val="1124453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56B7A-C084-2EE0-0AB3-A8E5839F805D}"/>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2528CA2C-9665-E643-31EE-238F14F09C08}"/>
              </a:ext>
            </a:extLst>
          </p:cNvPr>
          <p:cNvSpPr txBox="1">
            <a:spLocks/>
          </p:cNvSpPr>
          <p:nvPr/>
        </p:nvSpPr>
        <p:spPr>
          <a:xfrm>
            <a:off x="1472608" y="1380564"/>
            <a:ext cx="4561369" cy="1952183"/>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200" kern="1200" dirty="0">
                <a:solidFill>
                  <a:srgbClr val="595959"/>
                </a:solidFill>
                <a:latin typeface="+mj-lt"/>
                <a:ea typeface="+mj-ea"/>
                <a:cs typeface="+mj-cs"/>
              </a:rPr>
              <a:t>What are Agentic Workflows</a:t>
            </a:r>
          </a:p>
        </p:txBody>
      </p:sp>
      <p:sp>
        <p:nvSpPr>
          <p:cNvPr id="3" name="Subtitle 2">
            <a:extLst>
              <a:ext uri="{FF2B5EF4-FFF2-40B4-BE49-F238E27FC236}">
                <a16:creationId xmlns:a16="http://schemas.microsoft.com/office/drawing/2014/main" id="{8CFB2489-8D4D-5E5E-0593-52351CB4830E}"/>
              </a:ext>
            </a:extLst>
          </p:cNvPr>
          <p:cNvSpPr>
            <a:spLocks noGrp="1"/>
          </p:cNvSpPr>
          <p:nvPr>
            <p:ph type="subTitle" idx="1"/>
          </p:nvPr>
        </p:nvSpPr>
        <p:spPr>
          <a:xfrm>
            <a:off x="1472608" y="3726793"/>
            <a:ext cx="5467207" cy="1750642"/>
          </a:xfrm>
        </p:spPr>
        <p:txBody>
          <a:bodyPr vert="horz" lIns="91440" tIns="45720" rIns="91440" bIns="45720" rtlCol="0" anchor="t">
            <a:normAutofit fontScale="92500"/>
          </a:bodyPr>
          <a:lstStyle/>
          <a:p>
            <a:r>
              <a:rPr lang="en-IN" sz="1400" dirty="0">
                <a:solidFill>
                  <a:srgbClr val="595959"/>
                </a:solidFill>
              </a:rPr>
              <a:t>An </a:t>
            </a:r>
            <a:r>
              <a:rPr lang="en-IN" sz="1400" b="1" dirty="0">
                <a:solidFill>
                  <a:srgbClr val="595959"/>
                </a:solidFill>
              </a:rPr>
              <a:t>agentic workflow</a:t>
            </a:r>
            <a:r>
              <a:rPr lang="en-IN" sz="1400" dirty="0">
                <a:solidFill>
                  <a:srgbClr val="595959"/>
                </a:solidFill>
              </a:rPr>
              <a:t> is a series of connected steps dynamically executed by an agent, or series of agents, to achieve a specific task or goal. Agents are granted permissions by their users, which give them a limited degree of autonomy to gather data, perform tasks, and make decisions to be executed in the real-world. Agentic workflows also leverage the core components of AI agents including, their capacity for reasoning, ability to use tools to interact with their environment, and persistent memory to completely transform traditional workflows into responsive, adaptive, and self-evolving processes.</a:t>
            </a:r>
            <a:endParaRPr lang="en-US" sz="1400" dirty="0">
              <a:solidFill>
                <a:srgbClr val="595959"/>
              </a:solidFill>
            </a:endParaRPr>
          </a:p>
        </p:txBody>
      </p:sp>
      <p:pic>
        <p:nvPicPr>
          <p:cNvPr id="2" name="Picture 1">
            <a:extLst>
              <a:ext uri="{FF2B5EF4-FFF2-40B4-BE49-F238E27FC236}">
                <a16:creationId xmlns:a16="http://schemas.microsoft.com/office/drawing/2014/main" id="{EAC0CA41-5B37-A087-9DAF-11A1CC288A14}"/>
              </a:ext>
            </a:extLst>
          </p:cNvPr>
          <p:cNvPicPr>
            <a:picLocks noChangeAspect="1"/>
          </p:cNvPicPr>
          <p:nvPr/>
        </p:nvPicPr>
        <p:blipFill>
          <a:blip r:embed="rId2"/>
          <a:stretch>
            <a:fillRect/>
          </a:stretch>
        </p:blipFill>
        <p:spPr>
          <a:xfrm>
            <a:off x="7372793" y="1924462"/>
            <a:ext cx="3821880" cy="3604661"/>
          </a:xfrm>
          <a:prstGeom prst="rect">
            <a:avLst/>
          </a:prstGeom>
        </p:spPr>
      </p:pic>
    </p:spTree>
    <p:extLst>
      <p:ext uri="{BB962C8B-B14F-4D97-AF65-F5344CB8AC3E}">
        <p14:creationId xmlns:p14="http://schemas.microsoft.com/office/powerpoint/2010/main" val="4081672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9A125-28FC-DFDD-22BA-E04B28520DE3}"/>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AF1868F7-2CB7-C185-C00A-E419037B782D}"/>
              </a:ext>
            </a:extLst>
          </p:cNvPr>
          <p:cNvSpPr txBox="1">
            <a:spLocks/>
          </p:cNvSpPr>
          <p:nvPr/>
        </p:nvSpPr>
        <p:spPr>
          <a:xfrm>
            <a:off x="1472608" y="1380564"/>
            <a:ext cx="5736714" cy="1952183"/>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200" kern="1200" dirty="0">
                <a:solidFill>
                  <a:srgbClr val="595959"/>
                </a:solidFill>
                <a:latin typeface="+mj-lt"/>
                <a:ea typeface="+mj-ea"/>
                <a:cs typeface="+mj-cs"/>
              </a:rPr>
              <a:t>What are Agentic Workflows</a:t>
            </a:r>
          </a:p>
        </p:txBody>
      </p:sp>
      <p:pic>
        <p:nvPicPr>
          <p:cNvPr id="7" name="Picture 6">
            <a:extLst>
              <a:ext uri="{FF2B5EF4-FFF2-40B4-BE49-F238E27FC236}">
                <a16:creationId xmlns:a16="http://schemas.microsoft.com/office/drawing/2014/main" id="{0D791895-CB07-F72C-BE63-5840672C2953}"/>
              </a:ext>
            </a:extLst>
          </p:cNvPr>
          <p:cNvPicPr>
            <a:picLocks noChangeAspect="1"/>
          </p:cNvPicPr>
          <p:nvPr/>
        </p:nvPicPr>
        <p:blipFill>
          <a:blip r:embed="rId2"/>
          <a:stretch>
            <a:fillRect/>
          </a:stretch>
        </p:blipFill>
        <p:spPr>
          <a:xfrm>
            <a:off x="2421555" y="3429000"/>
            <a:ext cx="7772400" cy="1772652"/>
          </a:xfrm>
          <a:prstGeom prst="rect">
            <a:avLst/>
          </a:prstGeom>
        </p:spPr>
      </p:pic>
    </p:spTree>
    <p:extLst>
      <p:ext uri="{BB962C8B-B14F-4D97-AF65-F5344CB8AC3E}">
        <p14:creationId xmlns:p14="http://schemas.microsoft.com/office/powerpoint/2010/main" val="16088614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A9F62-5D9F-CBBC-CA5D-E7D7EF8C8EB9}"/>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70E81182-3573-6D1A-9B7B-0AC0AA1942EF}"/>
              </a:ext>
            </a:extLst>
          </p:cNvPr>
          <p:cNvSpPr txBox="1">
            <a:spLocks/>
          </p:cNvSpPr>
          <p:nvPr/>
        </p:nvSpPr>
        <p:spPr>
          <a:xfrm>
            <a:off x="1472608" y="1380564"/>
            <a:ext cx="4561369" cy="2346229"/>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200" kern="1200" dirty="0">
                <a:solidFill>
                  <a:srgbClr val="595959"/>
                </a:solidFill>
                <a:latin typeface="+mj-lt"/>
                <a:ea typeface="+mj-ea"/>
                <a:cs typeface="+mj-cs"/>
              </a:rPr>
              <a:t>What are Context Aware Agentic Workflows</a:t>
            </a:r>
          </a:p>
        </p:txBody>
      </p:sp>
      <p:sp>
        <p:nvSpPr>
          <p:cNvPr id="2" name="Subtitle 2">
            <a:extLst>
              <a:ext uri="{FF2B5EF4-FFF2-40B4-BE49-F238E27FC236}">
                <a16:creationId xmlns:a16="http://schemas.microsoft.com/office/drawing/2014/main" id="{D2710FCC-FA88-4CFA-BD55-5D485596305C}"/>
              </a:ext>
            </a:extLst>
          </p:cNvPr>
          <p:cNvSpPr>
            <a:spLocks noGrp="1"/>
          </p:cNvSpPr>
          <p:nvPr>
            <p:ph type="subTitle" idx="1"/>
          </p:nvPr>
        </p:nvSpPr>
        <p:spPr>
          <a:xfrm>
            <a:off x="1472608" y="4061345"/>
            <a:ext cx="5082196" cy="1416090"/>
          </a:xfrm>
        </p:spPr>
        <p:txBody>
          <a:bodyPr vert="horz" lIns="91440" tIns="45720" rIns="91440" bIns="45720" rtlCol="0" anchor="t">
            <a:normAutofit/>
          </a:bodyPr>
          <a:lstStyle/>
          <a:p>
            <a:r>
              <a:rPr lang="en-US" sz="1400" b="1" kern="1200" dirty="0">
                <a:solidFill>
                  <a:srgbClr val="595959"/>
                </a:solidFill>
                <a:latin typeface="+mn-lt"/>
                <a:ea typeface="+mn-ea"/>
                <a:cs typeface="+mn-cs"/>
              </a:rPr>
              <a:t>Context-Aware Agentic Workflows</a:t>
            </a:r>
            <a:r>
              <a:rPr lang="en-US" sz="1400" kern="1200" dirty="0">
                <a:solidFill>
                  <a:srgbClr val="595959"/>
                </a:solidFill>
                <a:latin typeface="+mn-lt"/>
                <a:ea typeface="+mn-ea"/>
                <a:cs typeface="+mn-cs"/>
              </a:rPr>
              <a:t> are intelligent processes where AI agents dynamically tailor their decisions, actions, and strategies by continuously interpreting and responding to the full situational landscape—including user intent, previous agent responses, historical responses, and real-time changes.</a:t>
            </a:r>
          </a:p>
        </p:txBody>
      </p:sp>
      <p:pic>
        <p:nvPicPr>
          <p:cNvPr id="3" name="Picture 2">
            <a:extLst>
              <a:ext uri="{FF2B5EF4-FFF2-40B4-BE49-F238E27FC236}">
                <a16:creationId xmlns:a16="http://schemas.microsoft.com/office/drawing/2014/main" id="{483D625C-A1A6-2FD1-CCE7-AB7D0A332447}"/>
              </a:ext>
            </a:extLst>
          </p:cNvPr>
          <p:cNvPicPr>
            <a:picLocks noChangeAspect="1"/>
          </p:cNvPicPr>
          <p:nvPr/>
        </p:nvPicPr>
        <p:blipFill>
          <a:blip r:embed="rId2"/>
          <a:stretch>
            <a:fillRect/>
          </a:stretch>
        </p:blipFill>
        <p:spPr>
          <a:xfrm>
            <a:off x="6810934" y="1972319"/>
            <a:ext cx="4541655" cy="3292700"/>
          </a:xfrm>
          <a:prstGeom prst="rect">
            <a:avLst/>
          </a:prstGeom>
        </p:spPr>
      </p:pic>
    </p:spTree>
    <p:extLst>
      <p:ext uri="{BB962C8B-B14F-4D97-AF65-F5344CB8AC3E}">
        <p14:creationId xmlns:p14="http://schemas.microsoft.com/office/powerpoint/2010/main" val="14025629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F9871-3990-5598-3477-2ADC738F068F}"/>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E8FCCBCD-C026-073D-90C6-45FE26F51CE6}"/>
              </a:ext>
            </a:extLst>
          </p:cNvPr>
          <p:cNvSpPr txBox="1">
            <a:spLocks/>
          </p:cNvSpPr>
          <p:nvPr/>
        </p:nvSpPr>
        <p:spPr>
          <a:xfrm>
            <a:off x="1472608" y="1380564"/>
            <a:ext cx="4561369" cy="2346229"/>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200" kern="1200" dirty="0">
                <a:solidFill>
                  <a:srgbClr val="595959"/>
                </a:solidFill>
                <a:latin typeface="+mj-lt"/>
                <a:ea typeface="+mj-ea"/>
                <a:cs typeface="+mj-cs"/>
              </a:rPr>
              <a:t>Role of Memory in Context Aware Agentic Workflows</a:t>
            </a:r>
          </a:p>
        </p:txBody>
      </p:sp>
      <p:sp>
        <p:nvSpPr>
          <p:cNvPr id="2" name="Subtitle 2">
            <a:extLst>
              <a:ext uri="{FF2B5EF4-FFF2-40B4-BE49-F238E27FC236}">
                <a16:creationId xmlns:a16="http://schemas.microsoft.com/office/drawing/2014/main" id="{F4448300-DB12-E5C6-AA2A-A37EE1EE9792}"/>
              </a:ext>
            </a:extLst>
          </p:cNvPr>
          <p:cNvSpPr>
            <a:spLocks noGrp="1"/>
          </p:cNvSpPr>
          <p:nvPr>
            <p:ph type="subTitle" idx="1"/>
          </p:nvPr>
        </p:nvSpPr>
        <p:spPr>
          <a:xfrm>
            <a:off x="1379398" y="4061346"/>
            <a:ext cx="5082196" cy="1416090"/>
          </a:xfrm>
        </p:spPr>
        <p:txBody>
          <a:bodyPr vert="horz" lIns="91440" tIns="45720" rIns="91440" bIns="45720" rtlCol="0" anchor="t">
            <a:normAutofit/>
          </a:bodyPr>
          <a:lstStyle/>
          <a:p>
            <a:r>
              <a:rPr lang="en-IN" sz="1400" b="1" dirty="0"/>
              <a:t>Memory serves as the foundation that transforms agents from task executors into context-intelligent collaborators.</a:t>
            </a:r>
            <a:r>
              <a:rPr lang="en-IN" sz="1400" dirty="0"/>
              <a:t> </a:t>
            </a:r>
            <a:r>
              <a:rPr lang="en-IN" sz="1100" dirty="0">
                <a:solidFill>
                  <a:srgbClr val="595959"/>
                </a:solidFill>
              </a:rPr>
              <a:t>Without memory, agents are perpetually starting from zero—every interaction is isolated, every decision is made in a vacuum. Memory is what makes context-awareness possible.</a:t>
            </a:r>
            <a:endParaRPr lang="en-US" sz="1100" dirty="0">
              <a:solidFill>
                <a:srgbClr val="595959"/>
              </a:solidFill>
            </a:endParaRPr>
          </a:p>
        </p:txBody>
      </p:sp>
      <p:pic>
        <p:nvPicPr>
          <p:cNvPr id="5" name="Picture 4">
            <a:extLst>
              <a:ext uri="{FF2B5EF4-FFF2-40B4-BE49-F238E27FC236}">
                <a16:creationId xmlns:a16="http://schemas.microsoft.com/office/drawing/2014/main" id="{E6C83A17-5363-17AB-0A92-36F1F80ECC64}"/>
              </a:ext>
            </a:extLst>
          </p:cNvPr>
          <p:cNvPicPr>
            <a:picLocks noChangeAspect="1"/>
          </p:cNvPicPr>
          <p:nvPr/>
        </p:nvPicPr>
        <p:blipFill>
          <a:blip r:embed="rId2"/>
          <a:stretch>
            <a:fillRect/>
          </a:stretch>
        </p:blipFill>
        <p:spPr>
          <a:xfrm>
            <a:off x="6461594" y="2819430"/>
            <a:ext cx="4858517" cy="2249204"/>
          </a:xfrm>
          <a:prstGeom prst="rect">
            <a:avLst/>
          </a:prstGeom>
        </p:spPr>
      </p:pic>
    </p:spTree>
    <p:extLst>
      <p:ext uri="{BB962C8B-B14F-4D97-AF65-F5344CB8AC3E}">
        <p14:creationId xmlns:p14="http://schemas.microsoft.com/office/powerpoint/2010/main" val="23543020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D1E93-DFD7-9795-089B-91EE11C593AE}"/>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C7253757-06C1-1C15-35A6-2BCBDA3B53FB}"/>
              </a:ext>
            </a:extLst>
          </p:cNvPr>
          <p:cNvSpPr txBox="1">
            <a:spLocks/>
          </p:cNvSpPr>
          <p:nvPr/>
        </p:nvSpPr>
        <p:spPr>
          <a:xfrm>
            <a:off x="1472608" y="1380564"/>
            <a:ext cx="4561369" cy="2346229"/>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IN" sz="3200" dirty="0">
                <a:solidFill>
                  <a:srgbClr val="595959"/>
                </a:solidFill>
                <a:latin typeface="+mj-lt"/>
                <a:ea typeface="+mj-ea"/>
                <a:cs typeface="+mj-cs"/>
              </a:rPr>
              <a:t>Memory Types in Agentic Workflows</a:t>
            </a:r>
            <a:endParaRPr lang="en-US" sz="3200" dirty="0">
              <a:solidFill>
                <a:srgbClr val="595959"/>
              </a:solidFill>
              <a:latin typeface="+mj-lt"/>
              <a:ea typeface="+mj-ea"/>
              <a:cs typeface="+mj-cs"/>
            </a:endParaRPr>
          </a:p>
        </p:txBody>
      </p:sp>
      <p:sp>
        <p:nvSpPr>
          <p:cNvPr id="2" name="Subtitle 2">
            <a:extLst>
              <a:ext uri="{FF2B5EF4-FFF2-40B4-BE49-F238E27FC236}">
                <a16:creationId xmlns:a16="http://schemas.microsoft.com/office/drawing/2014/main" id="{7B094814-D567-1716-6980-7AFFB2346CC2}"/>
              </a:ext>
            </a:extLst>
          </p:cNvPr>
          <p:cNvSpPr>
            <a:spLocks noGrp="1"/>
          </p:cNvSpPr>
          <p:nvPr>
            <p:ph type="subTitle" idx="1"/>
          </p:nvPr>
        </p:nvSpPr>
        <p:spPr>
          <a:xfrm>
            <a:off x="1058779" y="4061345"/>
            <a:ext cx="6025415" cy="1416090"/>
          </a:xfrm>
        </p:spPr>
        <p:txBody>
          <a:bodyPr vert="horz" lIns="91440" tIns="45720" rIns="91440" bIns="45720" rtlCol="0" anchor="t">
            <a:normAutofit fontScale="62500" lnSpcReduction="20000"/>
          </a:bodyPr>
          <a:lstStyle/>
          <a:p>
            <a:r>
              <a:rPr lang="en-IN" sz="1800" b="1" dirty="0">
                <a:solidFill>
                  <a:srgbClr val="595959"/>
                </a:solidFill>
              </a:rPr>
              <a:t>Short-term (Working Memory): </a:t>
            </a:r>
            <a:r>
              <a:rPr lang="en-IN" sz="1800" dirty="0">
                <a:solidFill>
                  <a:srgbClr val="595959"/>
                </a:solidFill>
              </a:rPr>
              <a:t>Maintains context within a single workflow execution—tracking intermediate results, decisions made, and current state.</a:t>
            </a:r>
          </a:p>
          <a:p>
            <a:r>
              <a:rPr lang="en-IN" sz="1800" b="1" dirty="0">
                <a:solidFill>
                  <a:srgbClr val="595959"/>
                </a:solidFill>
              </a:rPr>
              <a:t>Long-term (Episodic Memory): </a:t>
            </a:r>
            <a:r>
              <a:rPr lang="en-IN" sz="1800" dirty="0">
                <a:solidFill>
                  <a:srgbClr val="595959"/>
                </a:solidFill>
              </a:rPr>
              <a:t>Stores complete interaction histories—what tasks were performed, what outcomes resulted, what problems emerged.</a:t>
            </a:r>
          </a:p>
          <a:p>
            <a:r>
              <a:rPr lang="en-IN" sz="1800" b="1" dirty="0">
                <a:solidFill>
                  <a:srgbClr val="595959"/>
                </a:solidFill>
              </a:rPr>
              <a:t>Semantic Memory: </a:t>
            </a:r>
            <a:r>
              <a:rPr lang="en-IN" sz="1800" dirty="0">
                <a:solidFill>
                  <a:srgbClr val="595959"/>
                </a:solidFill>
              </a:rPr>
              <a:t>Accumulates generalized knowledge—your preferences, organizational rules, domain expertise, successful patterns.</a:t>
            </a:r>
          </a:p>
          <a:p>
            <a:r>
              <a:rPr lang="en-IN" sz="1800" b="1" dirty="0">
                <a:solidFill>
                  <a:srgbClr val="595959"/>
                </a:solidFill>
              </a:rPr>
              <a:t>Procedural Memory: </a:t>
            </a:r>
            <a:r>
              <a:rPr lang="en-IN" sz="1800" dirty="0">
                <a:solidFill>
                  <a:srgbClr val="595959"/>
                </a:solidFill>
              </a:rPr>
              <a:t>Retains learned skills—which tool combinations work best, optimal sequences for complex tasks, efficient problem-solving approaches.</a:t>
            </a:r>
          </a:p>
          <a:p>
            <a:endParaRPr lang="en-US" sz="1400" kern="1200" dirty="0">
              <a:solidFill>
                <a:srgbClr val="595959"/>
              </a:solidFill>
              <a:latin typeface="+mn-lt"/>
              <a:ea typeface="+mn-ea"/>
              <a:cs typeface="+mn-cs"/>
            </a:endParaRPr>
          </a:p>
        </p:txBody>
      </p:sp>
      <p:pic>
        <p:nvPicPr>
          <p:cNvPr id="3" name="Picture 2">
            <a:extLst>
              <a:ext uri="{FF2B5EF4-FFF2-40B4-BE49-F238E27FC236}">
                <a16:creationId xmlns:a16="http://schemas.microsoft.com/office/drawing/2014/main" id="{636605F1-8A13-45E0-F88F-9FF2E4398DB0}"/>
              </a:ext>
            </a:extLst>
          </p:cNvPr>
          <p:cNvPicPr>
            <a:picLocks noChangeAspect="1"/>
          </p:cNvPicPr>
          <p:nvPr/>
        </p:nvPicPr>
        <p:blipFill>
          <a:blip r:embed="rId2"/>
          <a:stretch>
            <a:fillRect/>
          </a:stretch>
        </p:blipFill>
        <p:spPr>
          <a:xfrm>
            <a:off x="7248402" y="996214"/>
            <a:ext cx="3789316" cy="4865571"/>
          </a:xfrm>
          <a:prstGeom prst="rect">
            <a:avLst/>
          </a:prstGeom>
        </p:spPr>
      </p:pic>
    </p:spTree>
    <p:extLst>
      <p:ext uri="{BB962C8B-B14F-4D97-AF65-F5344CB8AC3E}">
        <p14:creationId xmlns:p14="http://schemas.microsoft.com/office/powerpoint/2010/main" val="1597167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6406B9-94E5-CBFB-83CD-E45F8140C2D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2">
            <a:extLst>
              <a:ext uri="{FF2B5EF4-FFF2-40B4-BE49-F238E27FC236}">
                <a16:creationId xmlns:a16="http://schemas.microsoft.com/office/drawing/2014/main" id="{EF1E0696-7DF8-AF14-25A8-DD8647D8F1A1}"/>
              </a:ext>
            </a:extLst>
          </p:cNvPr>
          <p:cNvSpPr txBox="1">
            <a:spLocks/>
          </p:cNvSpPr>
          <p:nvPr/>
        </p:nvSpPr>
        <p:spPr>
          <a:xfrm>
            <a:off x="699713" y="248038"/>
            <a:ext cx="7063721" cy="1159200"/>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ct val="0"/>
              </a:spcBef>
              <a:spcAft>
                <a:spcPts val="600"/>
              </a:spcAft>
            </a:pPr>
            <a:r>
              <a:rPr lang="en-US" sz="4000" kern="1200">
                <a:solidFill>
                  <a:srgbClr val="FFFFFF"/>
                </a:solidFill>
                <a:latin typeface="+mj-lt"/>
                <a:ea typeface="+mj-ea"/>
                <a:cs typeface="+mj-cs"/>
              </a:rPr>
              <a:t>Benefits of Agentic Workflows</a:t>
            </a:r>
          </a:p>
        </p:txBody>
      </p:sp>
      <p:graphicFrame>
        <p:nvGraphicFramePr>
          <p:cNvPr id="6" name="Table 5">
            <a:extLst>
              <a:ext uri="{FF2B5EF4-FFF2-40B4-BE49-F238E27FC236}">
                <a16:creationId xmlns:a16="http://schemas.microsoft.com/office/drawing/2014/main" id="{E37122F0-4B02-29D7-EA3A-15F23663B05A}"/>
              </a:ext>
            </a:extLst>
          </p:cNvPr>
          <p:cNvGraphicFramePr>
            <a:graphicFrameLocks noGrp="1"/>
          </p:cNvGraphicFramePr>
          <p:nvPr>
            <p:extLst>
              <p:ext uri="{D42A27DB-BD31-4B8C-83A1-F6EECF244321}">
                <p14:modId xmlns:p14="http://schemas.microsoft.com/office/powerpoint/2010/main" val="2223527560"/>
              </p:ext>
            </p:extLst>
          </p:nvPr>
        </p:nvGraphicFramePr>
        <p:xfrm>
          <a:off x="432225" y="2160531"/>
          <a:ext cx="11327550" cy="4063685"/>
        </p:xfrm>
        <a:graphic>
          <a:graphicData uri="http://schemas.openxmlformats.org/drawingml/2006/table">
            <a:tbl>
              <a:tblPr>
                <a:tableStyleId>{5C22544A-7EE6-4342-B048-85BDC9FD1C3A}</a:tableStyleId>
              </a:tblPr>
              <a:tblGrid>
                <a:gridCol w="3676931">
                  <a:extLst>
                    <a:ext uri="{9D8B030D-6E8A-4147-A177-3AD203B41FA5}">
                      <a16:colId xmlns:a16="http://schemas.microsoft.com/office/drawing/2014/main" val="4184506985"/>
                    </a:ext>
                  </a:extLst>
                </a:gridCol>
                <a:gridCol w="7650619">
                  <a:extLst>
                    <a:ext uri="{9D8B030D-6E8A-4147-A177-3AD203B41FA5}">
                      <a16:colId xmlns:a16="http://schemas.microsoft.com/office/drawing/2014/main" val="3938280238"/>
                    </a:ext>
                  </a:extLst>
                </a:gridCol>
              </a:tblGrid>
              <a:tr h="332411">
                <a:tc>
                  <a:txBody>
                    <a:bodyPr/>
                    <a:lstStyle/>
                    <a:p>
                      <a:pPr>
                        <a:buNone/>
                      </a:pPr>
                      <a:r>
                        <a:rPr lang="en-IN" sz="1400"/>
                        <a:t>Benefit</a:t>
                      </a:r>
                    </a:p>
                  </a:txBody>
                  <a:tcPr marL="73773" marR="73773" marT="36886" marB="36886" anchor="ctr"/>
                </a:tc>
                <a:tc>
                  <a:txBody>
                    <a:bodyPr/>
                    <a:lstStyle/>
                    <a:p>
                      <a:pPr>
                        <a:buNone/>
                      </a:pPr>
                      <a:r>
                        <a:rPr lang="en-IN" sz="1400"/>
                        <a:t>Description</a:t>
                      </a:r>
                    </a:p>
                  </a:txBody>
                  <a:tcPr marL="73773" marR="73773" marT="36886" marB="36886" anchor="ctr"/>
                </a:tc>
                <a:extLst>
                  <a:ext uri="{0D108BD9-81ED-4DB2-BD59-A6C34878D82A}">
                    <a16:rowId xmlns:a16="http://schemas.microsoft.com/office/drawing/2014/main" val="3318251250"/>
                  </a:ext>
                </a:extLst>
              </a:tr>
              <a:tr h="987401">
                <a:tc>
                  <a:txBody>
                    <a:bodyPr/>
                    <a:lstStyle/>
                    <a:p>
                      <a:pPr>
                        <a:buNone/>
                      </a:pPr>
                      <a:r>
                        <a:rPr lang="en-IN" sz="1400"/>
                        <a:t>Flexibility, Adaptability &amp; Customizability</a:t>
                      </a:r>
                    </a:p>
                  </a:txBody>
                  <a:tcPr marL="73773" marR="73773" marT="36886" marB="36886" anchor="ctr"/>
                </a:tc>
                <a:tc>
                  <a:txBody>
                    <a:bodyPr/>
                    <a:lstStyle/>
                    <a:p>
                      <a:pPr>
                        <a:buNone/>
                      </a:pPr>
                      <a:r>
                        <a:rPr lang="en-IN" sz="1400"/>
                        <a:t>Unlike static deterministic workflows, agentic workflows can adapt to changing situations and task complexity. Different agentic patterns can be combined to create modular workflows that evolve as requirements grow.</a:t>
                      </a:r>
                    </a:p>
                  </a:txBody>
                  <a:tcPr marL="73773" marR="73773" marT="36886" marB="36886" anchor="ctr"/>
                </a:tc>
                <a:extLst>
                  <a:ext uri="{0D108BD9-81ED-4DB2-BD59-A6C34878D82A}">
                    <a16:rowId xmlns:a16="http://schemas.microsoft.com/office/drawing/2014/main" val="737508612"/>
                  </a:ext>
                </a:extLst>
              </a:tr>
              <a:tr h="987401">
                <a:tc>
                  <a:txBody>
                    <a:bodyPr/>
                    <a:lstStyle/>
                    <a:p>
                      <a:pPr>
                        <a:buNone/>
                      </a:pPr>
                      <a:r>
                        <a:rPr lang="en-IN" sz="1400"/>
                        <a:t>Improved Performance on Complex Tasks</a:t>
                      </a:r>
                    </a:p>
                  </a:txBody>
                  <a:tcPr marL="73773" marR="73773" marT="36886" marB="36886" anchor="ctr"/>
                </a:tc>
                <a:tc>
                  <a:txBody>
                    <a:bodyPr/>
                    <a:lstStyle/>
                    <a:p>
                      <a:pPr>
                        <a:buNone/>
                      </a:pPr>
                      <a:r>
                        <a:rPr lang="en-IN" sz="1400"/>
                        <a:t>Agentic workflows break complex problems into smaller, manageable steps using planning and task decomposition, often producing better results than simple deterministic or zero-shot approaches.</a:t>
                      </a:r>
                    </a:p>
                  </a:txBody>
                  <a:tcPr marL="73773" marR="73773" marT="36886" marB="36886" anchor="ctr"/>
                </a:tc>
                <a:extLst>
                  <a:ext uri="{0D108BD9-81ED-4DB2-BD59-A6C34878D82A}">
                    <a16:rowId xmlns:a16="http://schemas.microsoft.com/office/drawing/2014/main" val="1696929672"/>
                  </a:ext>
                </a:extLst>
              </a:tr>
              <a:tr h="769071">
                <a:tc>
                  <a:txBody>
                    <a:bodyPr/>
                    <a:lstStyle/>
                    <a:p>
                      <a:pPr>
                        <a:buNone/>
                      </a:pPr>
                      <a:r>
                        <a:rPr lang="en-IN" sz="1400"/>
                        <a:t>Self-Correction &amp; Continuous Learning</a:t>
                      </a:r>
                    </a:p>
                  </a:txBody>
                  <a:tcPr marL="73773" marR="73773" marT="36886" marB="36886" anchor="ctr"/>
                </a:tc>
                <a:tc>
                  <a:txBody>
                    <a:bodyPr/>
                    <a:lstStyle/>
                    <a:p>
                      <a:pPr>
                        <a:buNone/>
                      </a:pPr>
                      <a:r>
                        <a:rPr lang="en-IN" sz="1400"/>
                        <a:t>Through reflection and memory, agents can evaluate their actions, refine strategies, learn from previous experiences, and improve outcomes over time.</a:t>
                      </a:r>
                    </a:p>
                  </a:txBody>
                  <a:tcPr marL="73773" marR="73773" marT="36886" marB="36886" anchor="ctr"/>
                </a:tc>
                <a:extLst>
                  <a:ext uri="{0D108BD9-81ED-4DB2-BD59-A6C34878D82A}">
                    <a16:rowId xmlns:a16="http://schemas.microsoft.com/office/drawing/2014/main" val="2810027855"/>
                  </a:ext>
                </a:extLst>
              </a:tr>
              <a:tr h="987401">
                <a:tc>
                  <a:txBody>
                    <a:bodyPr/>
                    <a:lstStyle/>
                    <a:p>
                      <a:pPr>
                        <a:buNone/>
                      </a:pPr>
                      <a:r>
                        <a:rPr lang="en-IN" sz="1400"/>
                        <a:t>Operational Efficiency &amp; Scalability</a:t>
                      </a:r>
                    </a:p>
                  </a:txBody>
                  <a:tcPr marL="73773" marR="73773" marT="36886" marB="36886" anchor="ctr"/>
                </a:tc>
                <a:tc>
                  <a:txBody>
                    <a:bodyPr/>
                    <a:lstStyle/>
                    <a:p>
                      <a:pPr>
                        <a:buNone/>
                      </a:pPr>
                      <a:r>
                        <a:rPr lang="en-IN" sz="1400" dirty="0"/>
                        <a:t>Agentic workflows can automate repetitive and multi-step tasks, reducing manual effort and operational overhead. They can also scale to handle larger workloads and increasingly complex processes.</a:t>
                      </a:r>
                    </a:p>
                  </a:txBody>
                  <a:tcPr marL="73773" marR="73773" marT="36886" marB="36886" anchor="ctr"/>
                </a:tc>
                <a:extLst>
                  <a:ext uri="{0D108BD9-81ED-4DB2-BD59-A6C34878D82A}">
                    <a16:rowId xmlns:a16="http://schemas.microsoft.com/office/drawing/2014/main" val="688090955"/>
                  </a:ext>
                </a:extLst>
              </a:tr>
            </a:tbl>
          </a:graphicData>
        </a:graphic>
      </p:graphicFrame>
    </p:spTree>
    <p:extLst>
      <p:ext uri="{BB962C8B-B14F-4D97-AF65-F5344CB8AC3E}">
        <p14:creationId xmlns:p14="http://schemas.microsoft.com/office/powerpoint/2010/main" val="2537893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0917DF-6A6B-2C6C-7B02-DF371E8ECF5B}"/>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D19F7815-3AA2-7679-26F4-A63338C8B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68" y="4843169"/>
            <a:ext cx="12196668" cy="2016059"/>
            <a:chOff x="-4668" y="4843169"/>
            <a:chExt cx="12196668" cy="2016059"/>
          </a:xfrm>
        </p:grpSpPr>
        <p:sp>
          <p:nvSpPr>
            <p:cNvPr id="30" name="Rectangle 29">
              <a:extLst>
                <a:ext uri="{FF2B5EF4-FFF2-40B4-BE49-F238E27FC236}">
                  <a16:creationId xmlns:a16="http://schemas.microsoft.com/office/drawing/2014/main" id="{656154CE-3587-5C44-2A6B-1FE49B302C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668" y="4843169"/>
              <a:ext cx="12196668" cy="2015947"/>
            </a:xfrm>
            <a:prstGeom prst="rect">
              <a:avLst/>
            </a:prstGeom>
            <a:gradFill>
              <a:gsLst>
                <a:gs pos="0">
                  <a:schemeClr val="accent5"/>
                </a:gs>
                <a:gs pos="100000">
                  <a:schemeClr val="accent2"/>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E7A46DB-98C4-E666-AEC5-DF8B5DD9E7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4400"/>
              <a:ext cx="10565988" cy="2014828"/>
            </a:xfrm>
            <a:prstGeom prst="rect">
              <a:avLst/>
            </a:prstGeom>
            <a:gradFill flip="none" rotWithShape="1">
              <a:gsLst>
                <a:gs pos="3000">
                  <a:schemeClr val="accent2"/>
                </a:gs>
                <a:gs pos="40000">
                  <a:schemeClr val="accent2">
                    <a:alpha val="0"/>
                  </a:schemeClr>
                </a:gs>
              </a:gsLst>
              <a:lin ang="17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9F8962A-028A-2EBA-FBCF-F9B0334400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68" y="4843170"/>
              <a:ext cx="10309010" cy="2006799"/>
            </a:xfrm>
            <a:prstGeom prst="rect">
              <a:avLst/>
            </a:prstGeom>
            <a:gradFill>
              <a:gsLst>
                <a:gs pos="0">
                  <a:schemeClr val="accent5">
                    <a:alpha val="76000"/>
                  </a:schemeClr>
                </a:gs>
                <a:gs pos="67000">
                  <a:schemeClr val="accent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2F139663-D7C2-5898-E610-2183584AC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105876" y="4851203"/>
              <a:ext cx="8086124" cy="2006797"/>
            </a:xfrm>
            <a:prstGeom prst="rect">
              <a:avLst/>
            </a:prstGeom>
            <a:gradFill flip="none" rotWithShape="1">
              <a:gsLst>
                <a:gs pos="0">
                  <a:schemeClr val="accent5">
                    <a:lumMod val="50000"/>
                    <a:alpha val="36000"/>
                  </a:schemeClr>
                </a:gs>
                <a:gs pos="45000">
                  <a:schemeClr val="accent5">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grpSp>
      <p:sp>
        <p:nvSpPr>
          <p:cNvPr id="4" name="Subtitle 2">
            <a:extLst>
              <a:ext uri="{FF2B5EF4-FFF2-40B4-BE49-F238E27FC236}">
                <a16:creationId xmlns:a16="http://schemas.microsoft.com/office/drawing/2014/main" id="{38C3F67B-E7DD-A768-AE49-8B2CFA0629C2}"/>
              </a:ext>
            </a:extLst>
          </p:cNvPr>
          <p:cNvSpPr txBox="1">
            <a:spLocks/>
          </p:cNvSpPr>
          <p:nvPr/>
        </p:nvSpPr>
        <p:spPr>
          <a:xfrm>
            <a:off x="1611630" y="5167418"/>
            <a:ext cx="8949690" cy="702264"/>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600" kern="1200">
                <a:solidFill>
                  <a:srgbClr val="FFFFFF"/>
                </a:solidFill>
                <a:latin typeface="+mj-lt"/>
                <a:ea typeface="+mj-ea"/>
                <a:cs typeface="+mj-cs"/>
              </a:rPr>
              <a:t>Limitations of Agentic Workflows</a:t>
            </a:r>
          </a:p>
        </p:txBody>
      </p:sp>
      <p:graphicFrame>
        <p:nvGraphicFramePr>
          <p:cNvPr id="2" name="Table 1">
            <a:extLst>
              <a:ext uri="{FF2B5EF4-FFF2-40B4-BE49-F238E27FC236}">
                <a16:creationId xmlns:a16="http://schemas.microsoft.com/office/drawing/2014/main" id="{72E076BB-7C09-3B22-BFA9-9C85E36F0C80}"/>
              </a:ext>
            </a:extLst>
          </p:cNvPr>
          <p:cNvGraphicFramePr>
            <a:graphicFrameLocks noGrp="1"/>
          </p:cNvGraphicFramePr>
          <p:nvPr>
            <p:extLst>
              <p:ext uri="{D42A27DB-BD31-4B8C-83A1-F6EECF244321}">
                <p14:modId xmlns:p14="http://schemas.microsoft.com/office/powerpoint/2010/main" val="904600319"/>
              </p:ext>
            </p:extLst>
          </p:nvPr>
        </p:nvGraphicFramePr>
        <p:xfrm>
          <a:off x="1250508" y="830362"/>
          <a:ext cx="9690985" cy="3157312"/>
        </p:xfrm>
        <a:graphic>
          <a:graphicData uri="http://schemas.openxmlformats.org/drawingml/2006/table">
            <a:tbl>
              <a:tblPr>
                <a:tableStyleId>{5C22544A-7EE6-4342-B048-85BDC9FD1C3A}</a:tableStyleId>
              </a:tblPr>
              <a:tblGrid>
                <a:gridCol w="4770463">
                  <a:extLst>
                    <a:ext uri="{9D8B030D-6E8A-4147-A177-3AD203B41FA5}">
                      <a16:colId xmlns:a16="http://schemas.microsoft.com/office/drawing/2014/main" val="3158165841"/>
                    </a:ext>
                  </a:extLst>
                </a:gridCol>
                <a:gridCol w="4920522">
                  <a:extLst>
                    <a:ext uri="{9D8B030D-6E8A-4147-A177-3AD203B41FA5}">
                      <a16:colId xmlns:a16="http://schemas.microsoft.com/office/drawing/2014/main" val="1257252561"/>
                    </a:ext>
                  </a:extLst>
                </a:gridCol>
              </a:tblGrid>
              <a:tr h="274194">
                <a:tc>
                  <a:txBody>
                    <a:bodyPr/>
                    <a:lstStyle/>
                    <a:p>
                      <a:pPr>
                        <a:buNone/>
                      </a:pPr>
                      <a:r>
                        <a:rPr lang="en-IN" sz="1200"/>
                        <a:t>Challenge / Limitation</a:t>
                      </a:r>
                    </a:p>
                  </a:txBody>
                  <a:tcPr marL="59831" marR="59831" marT="29916" marB="29916" anchor="ctr"/>
                </a:tc>
                <a:tc>
                  <a:txBody>
                    <a:bodyPr/>
                    <a:lstStyle/>
                    <a:p>
                      <a:pPr>
                        <a:buNone/>
                      </a:pPr>
                      <a:r>
                        <a:rPr lang="en-IN" sz="1200"/>
                        <a:t>Description</a:t>
                      </a:r>
                    </a:p>
                  </a:txBody>
                  <a:tcPr marL="59831" marR="59831" marT="29916" marB="29916" anchor="ctr"/>
                </a:tc>
                <a:extLst>
                  <a:ext uri="{0D108BD9-81ED-4DB2-BD59-A6C34878D82A}">
                    <a16:rowId xmlns:a16="http://schemas.microsoft.com/office/drawing/2014/main" val="2188597818"/>
                  </a:ext>
                </a:extLst>
              </a:tr>
              <a:tr h="810097">
                <a:tc>
                  <a:txBody>
                    <a:bodyPr/>
                    <a:lstStyle/>
                    <a:p>
                      <a:pPr>
                        <a:buNone/>
                      </a:pPr>
                      <a:r>
                        <a:rPr lang="en-IN" sz="1200"/>
                        <a:t>Unnecessary Complexity for Simple Tasks</a:t>
                      </a:r>
                    </a:p>
                  </a:txBody>
                  <a:tcPr marL="59831" marR="59831" marT="29916" marB="29916" anchor="ctr"/>
                </a:tc>
                <a:tc>
                  <a:txBody>
                    <a:bodyPr/>
                    <a:lstStyle/>
                    <a:p>
                      <a:pPr>
                        <a:buNone/>
                      </a:pPr>
                      <a:r>
                        <a:rPr lang="en-IN" sz="1200"/>
                        <a:t>Agentic workflows can introduce unnecessary overhead for straightforward tasks such as form entry, simple data extraction, or rule-based processing. In these cases, traditional deterministic automation may be faster, cheaper, and more reliable.</a:t>
                      </a:r>
                    </a:p>
                  </a:txBody>
                  <a:tcPr marL="59831" marR="59831" marT="29916" marB="29916" anchor="ctr"/>
                </a:tc>
                <a:extLst>
                  <a:ext uri="{0D108BD9-81ED-4DB2-BD59-A6C34878D82A}">
                    <a16:rowId xmlns:a16="http://schemas.microsoft.com/office/drawing/2014/main" val="77992176"/>
                  </a:ext>
                </a:extLst>
              </a:tr>
              <a:tr h="810097">
                <a:tc>
                  <a:txBody>
                    <a:bodyPr/>
                    <a:lstStyle/>
                    <a:p>
                      <a:pPr>
                        <a:buNone/>
                      </a:pPr>
                      <a:r>
                        <a:rPr lang="en-IN" sz="1200"/>
                        <a:t>Reduced Reliability with Increased Autonomy</a:t>
                      </a:r>
                    </a:p>
                  </a:txBody>
                  <a:tcPr marL="59831" marR="59831" marT="29916" marB="29916" anchor="ctr"/>
                </a:tc>
                <a:tc>
                  <a:txBody>
                    <a:bodyPr/>
                    <a:lstStyle/>
                    <a:p>
                      <a:pPr>
                        <a:buNone/>
                      </a:pPr>
                      <a:r>
                        <a:rPr lang="en-IN" sz="1200"/>
                        <a:t>As agents gain more autonomy and decision-making capability, their probabilistic behavior can make outcomes less predictable and harder to control. Strong guardrails, permission management, monitoring, and continuous evaluation are essential.</a:t>
                      </a:r>
                    </a:p>
                  </a:txBody>
                  <a:tcPr marL="59831" marR="59831" marT="29916" marB="29916" anchor="ctr"/>
                </a:tc>
                <a:extLst>
                  <a:ext uri="{0D108BD9-81ED-4DB2-BD59-A6C34878D82A}">
                    <a16:rowId xmlns:a16="http://schemas.microsoft.com/office/drawing/2014/main" val="231314694"/>
                  </a:ext>
                </a:extLst>
              </a:tr>
              <a:tr h="631462">
                <a:tc>
                  <a:txBody>
                    <a:bodyPr/>
                    <a:lstStyle/>
                    <a:p>
                      <a:pPr>
                        <a:buNone/>
                      </a:pPr>
                      <a:r>
                        <a:rPr lang="en-IN" sz="1200"/>
                        <a:t>Higher Workflow Complexity</a:t>
                      </a:r>
                    </a:p>
                  </a:txBody>
                  <a:tcPr marL="59831" marR="59831" marT="29916" marB="29916" anchor="ctr"/>
                </a:tc>
                <a:tc>
                  <a:txBody>
                    <a:bodyPr/>
                    <a:lstStyle/>
                    <a:p>
                      <a:pPr>
                        <a:buNone/>
                      </a:pPr>
                      <a:r>
                        <a:rPr lang="en-IN" sz="1200"/>
                        <a:t>AI agents introduce additional components such as planning, reasoning, memory, tool usage, and orchestration. This can make systems more difficult to design, debug, observe, and maintain.</a:t>
                      </a:r>
                    </a:p>
                  </a:txBody>
                  <a:tcPr marL="59831" marR="59831" marT="29916" marB="29916" anchor="ctr"/>
                </a:tc>
                <a:extLst>
                  <a:ext uri="{0D108BD9-81ED-4DB2-BD59-A6C34878D82A}">
                    <a16:rowId xmlns:a16="http://schemas.microsoft.com/office/drawing/2014/main" val="998541071"/>
                  </a:ext>
                </a:extLst>
              </a:tr>
              <a:tr h="631462">
                <a:tc>
                  <a:txBody>
                    <a:bodyPr/>
                    <a:lstStyle/>
                    <a:p>
                      <a:pPr>
                        <a:buNone/>
                      </a:pPr>
                      <a:r>
                        <a:rPr lang="en-IN" sz="1200"/>
                        <a:t>Cost &amp; Operational Overhead</a:t>
                      </a:r>
                    </a:p>
                  </a:txBody>
                  <a:tcPr marL="59831" marR="59831" marT="29916" marB="29916" anchor="ctr"/>
                </a:tc>
                <a:tc>
                  <a:txBody>
                    <a:bodyPr/>
                    <a:lstStyle/>
                    <a:p>
                      <a:pPr>
                        <a:buNone/>
                      </a:pPr>
                      <a:r>
                        <a:rPr lang="en-IN" sz="1200" dirty="0"/>
                        <a:t>Multi-step reasoning, repeated LLM calls, tool interactions, and validation loops can increase latency and infrastructure costs compared with deterministic workflows.</a:t>
                      </a:r>
                    </a:p>
                  </a:txBody>
                  <a:tcPr marL="59831" marR="59831" marT="29916" marB="29916" anchor="ctr"/>
                </a:tc>
                <a:extLst>
                  <a:ext uri="{0D108BD9-81ED-4DB2-BD59-A6C34878D82A}">
                    <a16:rowId xmlns:a16="http://schemas.microsoft.com/office/drawing/2014/main" val="2380296077"/>
                  </a:ext>
                </a:extLst>
              </a:tr>
            </a:tbl>
          </a:graphicData>
        </a:graphic>
      </p:graphicFrame>
    </p:spTree>
    <p:extLst>
      <p:ext uri="{BB962C8B-B14F-4D97-AF65-F5344CB8AC3E}">
        <p14:creationId xmlns:p14="http://schemas.microsoft.com/office/powerpoint/2010/main" val="309430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328C1-038A-7C7E-2B49-97DDD4712714}"/>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4EB9120C-6797-E60A-D48B-740EDE85CD42}"/>
              </a:ext>
            </a:extLst>
          </p:cNvPr>
          <p:cNvSpPr txBox="1">
            <a:spLocks/>
          </p:cNvSpPr>
          <p:nvPr/>
        </p:nvSpPr>
        <p:spPr>
          <a:xfrm>
            <a:off x="1001676" y="1259958"/>
            <a:ext cx="3444948" cy="2481729"/>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200" kern="1200">
                <a:solidFill>
                  <a:srgbClr val="595959"/>
                </a:solidFill>
                <a:latin typeface="+mj-lt"/>
                <a:ea typeface="+mj-ea"/>
                <a:cs typeface="+mj-cs"/>
              </a:rPr>
              <a:t>When to choose Agentic Workflows</a:t>
            </a:r>
          </a:p>
        </p:txBody>
      </p:sp>
      <p:pic>
        <p:nvPicPr>
          <p:cNvPr id="6" name="Picture 5">
            <a:extLst>
              <a:ext uri="{FF2B5EF4-FFF2-40B4-BE49-F238E27FC236}">
                <a16:creationId xmlns:a16="http://schemas.microsoft.com/office/drawing/2014/main" id="{2EF8C7CA-C9B8-D90E-1BFB-1B81FD7AA5F9}"/>
              </a:ext>
            </a:extLst>
          </p:cNvPr>
          <p:cNvPicPr>
            <a:picLocks noChangeAspect="1"/>
          </p:cNvPicPr>
          <p:nvPr/>
        </p:nvPicPr>
        <p:blipFill>
          <a:blip r:embed="rId2"/>
          <a:stretch>
            <a:fillRect/>
          </a:stretch>
        </p:blipFill>
        <p:spPr>
          <a:xfrm>
            <a:off x="5358972" y="416867"/>
            <a:ext cx="5383149" cy="5696455"/>
          </a:xfrm>
          <a:prstGeom prst="rect">
            <a:avLst/>
          </a:prstGeom>
        </p:spPr>
      </p:pic>
    </p:spTree>
    <p:extLst>
      <p:ext uri="{BB962C8B-B14F-4D97-AF65-F5344CB8AC3E}">
        <p14:creationId xmlns:p14="http://schemas.microsoft.com/office/powerpoint/2010/main" val="36760614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AE3CF-8FB5-A883-50F6-CB2952478B51}"/>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48962F16-5C9D-48A4-ECE9-9A7FB7771551}"/>
              </a:ext>
            </a:extLst>
          </p:cNvPr>
          <p:cNvSpPr txBox="1">
            <a:spLocks/>
          </p:cNvSpPr>
          <p:nvPr/>
        </p:nvSpPr>
        <p:spPr>
          <a:xfrm>
            <a:off x="968354" y="733778"/>
            <a:ext cx="3444948" cy="1201687"/>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200" kern="1200" dirty="0">
                <a:solidFill>
                  <a:srgbClr val="595959"/>
                </a:solidFill>
                <a:latin typeface="+mj-lt"/>
                <a:ea typeface="+mj-ea"/>
                <a:cs typeface="+mj-cs"/>
              </a:rPr>
              <a:t>Few Examples of Agentic Workflows</a:t>
            </a:r>
          </a:p>
        </p:txBody>
      </p:sp>
      <p:sp>
        <p:nvSpPr>
          <p:cNvPr id="2" name="Subtitle 2">
            <a:extLst>
              <a:ext uri="{FF2B5EF4-FFF2-40B4-BE49-F238E27FC236}">
                <a16:creationId xmlns:a16="http://schemas.microsoft.com/office/drawing/2014/main" id="{AB84D80C-DAA0-AC65-EC32-6FB8FD6911A1}"/>
              </a:ext>
            </a:extLst>
          </p:cNvPr>
          <p:cNvSpPr>
            <a:spLocks noGrp="1"/>
          </p:cNvSpPr>
          <p:nvPr>
            <p:ph type="subTitle" idx="1"/>
          </p:nvPr>
        </p:nvSpPr>
        <p:spPr>
          <a:xfrm>
            <a:off x="968354" y="2093993"/>
            <a:ext cx="3444948" cy="2828543"/>
          </a:xfrm>
        </p:spPr>
        <p:txBody>
          <a:bodyPr vert="horz" lIns="91440" tIns="45720" rIns="91440" bIns="45720" rtlCol="0" anchor="t">
            <a:normAutofit/>
          </a:bodyPr>
          <a:lstStyle/>
          <a:p>
            <a:pPr indent="-228600" algn="l">
              <a:buFont typeface="Arial" panose="020B0604020202020204" pitchFamily="34" charset="0"/>
              <a:buChar char="•"/>
            </a:pPr>
            <a:r>
              <a:rPr lang="en-US" sz="1400" dirty="0">
                <a:solidFill>
                  <a:schemeClr val="tx1">
                    <a:lumMod val="65000"/>
                    <a:lumOff val="35000"/>
                  </a:schemeClr>
                </a:solidFill>
              </a:rPr>
              <a:t>Service Now</a:t>
            </a:r>
          </a:p>
          <a:p>
            <a:pPr indent="-228600" algn="l">
              <a:buFont typeface="Arial" panose="020B0604020202020204" pitchFamily="34" charset="0"/>
              <a:buChar char="•"/>
            </a:pPr>
            <a:r>
              <a:rPr lang="en-US" sz="1400" dirty="0">
                <a:solidFill>
                  <a:schemeClr val="tx1">
                    <a:lumMod val="65000"/>
                    <a:lumOff val="35000"/>
                  </a:schemeClr>
                </a:solidFill>
              </a:rPr>
              <a:t>Zen Desk</a:t>
            </a:r>
          </a:p>
          <a:p>
            <a:pPr indent="-228600" algn="l">
              <a:buFont typeface="Arial" panose="020B0604020202020204" pitchFamily="34" charset="0"/>
              <a:buChar char="•"/>
            </a:pPr>
            <a:r>
              <a:rPr lang="en-US" sz="1400" dirty="0">
                <a:solidFill>
                  <a:schemeClr val="tx1">
                    <a:lumMod val="65000"/>
                    <a:lumOff val="35000"/>
                  </a:schemeClr>
                </a:solidFill>
              </a:rPr>
              <a:t>Salesforce </a:t>
            </a:r>
          </a:p>
          <a:p>
            <a:pPr indent="-228600" algn="l">
              <a:buFont typeface="Arial" panose="020B0604020202020204" pitchFamily="34" charset="0"/>
              <a:buChar char="•"/>
            </a:pPr>
            <a:r>
              <a:rPr lang="en-US" sz="1400" dirty="0">
                <a:solidFill>
                  <a:schemeClr val="tx1">
                    <a:lumMod val="65000"/>
                    <a:lumOff val="35000"/>
                  </a:schemeClr>
                </a:solidFill>
              </a:rPr>
              <a:t>Agentic RAG</a:t>
            </a:r>
          </a:p>
          <a:p>
            <a:pPr indent="-228600" algn="l">
              <a:buFont typeface="Arial" panose="020B0604020202020204" pitchFamily="34" charset="0"/>
              <a:buChar char="•"/>
            </a:pPr>
            <a:r>
              <a:rPr lang="en-US" sz="1400" dirty="0">
                <a:solidFill>
                  <a:schemeClr val="tx1">
                    <a:lumMod val="65000"/>
                    <a:lumOff val="35000"/>
                  </a:schemeClr>
                </a:solidFill>
              </a:rPr>
              <a:t>Clinical Support System</a:t>
            </a:r>
          </a:p>
          <a:p>
            <a:pPr indent="-228600" algn="l">
              <a:buFont typeface="Arial" panose="020B0604020202020204" pitchFamily="34" charset="0"/>
              <a:buChar char="•"/>
            </a:pPr>
            <a:r>
              <a:rPr lang="en-US" sz="1400" dirty="0">
                <a:solidFill>
                  <a:schemeClr val="tx1">
                    <a:lumMod val="65000"/>
                    <a:lumOff val="35000"/>
                  </a:schemeClr>
                </a:solidFill>
              </a:rPr>
              <a:t>Legal Support System</a:t>
            </a:r>
          </a:p>
          <a:p>
            <a:pPr indent="-228600" algn="l">
              <a:buFont typeface="Arial" panose="020B0604020202020204" pitchFamily="34" charset="0"/>
              <a:buChar char="•"/>
            </a:pPr>
            <a:r>
              <a:rPr lang="en-US" sz="1400" dirty="0">
                <a:solidFill>
                  <a:schemeClr val="tx1">
                    <a:lumMod val="65000"/>
                    <a:lumOff val="35000"/>
                  </a:schemeClr>
                </a:solidFill>
              </a:rPr>
              <a:t>Financial Support System</a:t>
            </a:r>
          </a:p>
          <a:p>
            <a:pPr indent="-228600" algn="l">
              <a:buFont typeface="Arial" panose="020B0604020202020204" pitchFamily="34" charset="0"/>
              <a:buChar char="•"/>
            </a:pPr>
            <a:endParaRPr lang="en-US" sz="1400" dirty="0">
              <a:solidFill>
                <a:schemeClr val="tx1">
                  <a:lumMod val="65000"/>
                  <a:lumOff val="35000"/>
                </a:schemeClr>
              </a:solidFill>
            </a:endParaRPr>
          </a:p>
        </p:txBody>
      </p:sp>
      <p:pic>
        <p:nvPicPr>
          <p:cNvPr id="3" name="Picture 2">
            <a:extLst>
              <a:ext uri="{FF2B5EF4-FFF2-40B4-BE49-F238E27FC236}">
                <a16:creationId xmlns:a16="http://schemas.microsoft.com/office/drawing/2014/main" id="{A1E181B4-8656-5F6D-17EA-D616033EC44A}"/>
              </a:ext>
            </a:extLst>
          </p:cNvPr>
          <p:cNvPicPr>
            <a:picLocks noChangeAspect="1"/>
          </p:cNvPicPr>
          <p:nvPr/>
        </p:nvPicPr>
        <p:blipFill>
          <a:blip r:embed="rId2"/>
          <a:stretch>
            <a:fillRect/>
          </a:stretch>
        </p:blipFill>
        <p:spPr>
          <a:xfrm>
            <a:off x="5442208" y="1"/>
            <a:ext cx="6743493" cy="5457524"/>
          </a:xfrm>
          <a:prstGeom prst="rect">
            <a:avLst/>
          </a:prstGeom>
        </p:spPr>
      </p:pic>
    </p:spTree>
    <p:extLst>
      <p:ext uri="{BB962C8B-B14F-4D97-AF65-F5344CB8AC3E}">
        <p14:creationId xmlns:p14="http://schemas.microsoft.com/office/powerpoint/2010/main" val="748719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29BCF-F01F-019E-2E7A-015C4E7B65EC}"/>
            </a:ext>
          </a:extLst>
        </p:cNvPr>
        <p:cNvGrpSpPr/>
        <p:nvPr/>
      </p:nvGrpSpPr>
      <p:grpSpPr>
        <a:xfrm>
          <a:off x="0" y="0"/>
          <a:ext cx="0" cy="0"/>
          <a:chOff x="0" y="0"/>
          <a:chExt cx="0" cy="0"/>
        </a:xfrm>
      </p:grpSpPr>
      <p:sp>
        <p:nvSpPr>
          <p:cNvPr id="4" name="Subtitle 2">
            <a:extLst>
              <a:ext uri="{FF2B5EF4-FFF2-40B4-BE49-F238E27FC236}">
                <a16:creationId xmlns:a16="http://schemas.microsoft.com/office/drawing/2014/main" id="{2806250D-7523-0489-6552-2A4D22995BCC}"/>
              </a:ext>
            </a:extLst>
          </p:cNvPr>
          <p:cNvSpPr txBox="1">
            <a:spLocks/>
          </p:cNvSpPr>
          <p:nvPr/>
        </p:nvSpPr>
        <p:spPr>
          <a:xfrm>
            <a:off x="1616054" y="1070149"/>
            <a:ext cx="8959893" cy="1004836"/>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ct val="0"/>
              </a:spcBef>
              <a:spcAft>
                <a:spcPts val="600"/>
              </a:spcAft>
            </a:pPr>
            <a:r>
              <a:rPr lang="en-US" sz="3200" kern="1200" dirty="0">
                <a:solidFill>
                  <a:srgbClr val="595959"/>
                </a:solidFill>
                <a:latin typeface="+mj-lt"/>
                <a:ea typeface="+mj-ea"/>
                <a:cs typeface="+mj-cs"/>
              </a:rPr>
              <a:t>Resources Needed for HandsOn</a:t>
            </a:r>
          </a:p>
        </p:txBody>
      </p:sp>
      <p:sp>
        <p:nvSpPr>
          <p:cNvPr id="2" name="Subtitle 2">
            <a:extLst>
              <a:ext uri="{FF2B5EF4-FFF2-40B4-BE49-F238E27FC236}">
                <a16:creationId xmlns:a16="http://schemas.microsoft.com/office/drawing/2014/main" id="{A02F9B57-1F04-5DE0-43E7-8669E927AA1E}"/>
              </a:ext>
            </a:extLst>
          </p:cNvPr>
          <p:cNvSpPr>
            <a:spLocks noGrp="1"/>
          </p:cNvSpPr>
          <p:nvPr>
            <p:ph type="subTitle" idx="1"/>
          </p:nvPr>
        </p:nvSpPr>
        <p:spPr>
          <a:xfrm>
            <a:off x="1616054" y="2768321"/>
            <a:ext cx="8959892" cy="1625259"/>
          </a:xfrm>
        </p:spPr>
        <p:txBody>
          <a:bodyPr vert="horz" lIns="91440" tIns="45720" rIns="91440" bIns="45720" rtlCol="0" anchor="t">
            <a:normAutofit/>
          </a:bodyPr>
          <a:lstStyle/>
          <a:p>
            <a:pPr indent="-228600" algn="l">
              <a:buFont typeface="Arial" panose="020B0604020202020204" pitchFamily="34" charset="0"/>
              <a:buChar char="•"/>
            </a:pPr>
            <a:r>
              <a:rPr lang="en-US" sz="2000" dirty="0">
                <a:solidFill>
                  <a:schemeClr val="tx1">
                    <a:lumMod val="65000"/>
                    <a:lumOff val="35000"/>
                  </a:schemeClr>
                </a:solidFill>
              </a:rPr>
              <a:t>Qdrant Documentation: </a:t>
            </a:r>
            <a:r>
              <a:rPr lang="en-US" sz="2000" dirty="0">
                <a:solidFill>
                  <a:schemeClr val="tx1">
                    <a:lumMod val="65000"/>
                    <a:lumOff val="35000"/>
                  </a:schemeClr>
                </a:solidFill>
                <a:hlinkClick r:id="rId2"/>
              </a:rPr>
              <a:t>https://qdrant.tech/documentation/</a:t>
            </a:r>
            <a:endParaRPr lang="en-US" sz="2000" dirty="0">
              <a:solidFill>
                <a:schemeClr val="tx1">
                  <a:lumMod val="65000"/>
                  <a:lumOff val="35000"/>
                </a:schemeClr>
              </a:solidFill>
            </a:endParaRPr>
          </a:p>
          <a:p>
            <a:pPr indent="-228600" algn="l">
              <a:buFont typeface="Arial" panose="020B0604020202020204" pitchFamily="34" charset="0"/>
              <a:buChar char="•"/>
            </a:pPr>
            <a:r>
              <a:rPr lang="en-US" sz="2000" dirty="0">
                <a:solidFill>
                  <a:schemeClr val="tx1">
                    <a:lumMod val="65000"/>
                    <a:lumOff val="35000"/>
                  </a:schemeClr>
                </a:solidFill>
              </a:rPr>
              <a:t>Agno Documentation: </a:t>
            </a:r>
            <a:r>
              <a:rPr lang="en-US" sz="2000" dirty="0">
                <a:solidFill>
                  <a:schemeClr val="tx1">
                    <a:lumMod val="65000"/>
                    <a:lumOff val="35000"/>
                  </a:schemeClr>
                </a:solidFill>
                <a:hlinkClick r:id="rId3"/>
              </a:rPr>
              <a:t>https://docs.agno.com/introduction</a:t>
            </a:r>
            <a:endParaRPr lang="en-US" sz="2000" dirty="0">
              <a:solidFill>
                <a:schemeClr val="tx1">
                  <a:lumMod val="65000"/>
                  <a:lumOff val="35000"/>
                </a:schemeClr>
              </a:solidFill>
            </a:endParaRPr>
          </a:p>
          <a:p>
            <a:pPr indent="-228600" algn="l">
              <a:buFont typeface="Arial" panose="020B0604020202020204" pitchFamily="34" charset="0"/>
              <a:buChar char="•"/>
            </a:pPr>
            <a:r>
              <a:rPr lang="en-US" sz="2000" dirty="0" err="1">
                <a:solidFill>
                  <a:schemeClr val="tx1">
                    <a:lumMod val="65000"/>
                    <a:lumOff val="35000"/>
                  </a:schemeClr>
                </a:solidFill>
              </a:rPr>
              <a:t>Mlflow</a:t>
            </a:r>
            <a:r>
              <a:rPr lang="en-US" sz="2000" dirty="0">
                <a:solidFill>
                  <a:schemeClr val="tx1">
                    <a:lumMod val="65000"/>
                    <a:lumOff val="35000"/>
                  </a:schemeClr>
                </a:solidFill>
              </a:rPr>
              <a:t> Documentation: </a:t>
            </a:r>
            <a:r>
              <a:rPr lang="en-US" sz="2000" dirty="0">
                <a:solidFill>
                  <a:schemeClr val="tx1">
                    <a:lumMod val="65000"/>
                    <a:lumOff val="35000"/>
                  </a:schemeClr>
                </a:solidFill>
                <a:hlinkClick r:id="rId4"/>
              </a:rPr>
              <a:t>https://mlflow.org/docs/latest/</a:t>
            </a:r>
            <a:endParaRPr lang="en-US" sz="2000" dirty="0">
              <a:solidFill>
                <a:schemeClr val="tx1">
                  <a:lumMod val="65000"/>
                  <a:lumOff val="35000"/>
                </a:schemeClr>
              </a:solidFill>
            </a:endParaRPr>
          </a:p>
          <a:p>
            <a:pPr indent="-228600" algn="l">
              <a:buFont typeface="Arial" panose="020B0604020202020204" pitchFamily="34" charset="0"/>
              <a:buChar char="•"/>
            </a:pPr>
            <a:r>
              <a:rPr lang="en-US" sz="2000" dirty="0">
                <a:solidFill>
                  <a:schemeClr val="tx1">
                    <a:lumMod val="65000"/>
                    <a:lumOff val="35000"/>
                  </a:schemeClr>
                </a:solidFill>
              </a:rPr>
              <a:t>Register &amp; Login to Qdrant Cloud: </a:t>
            </a:r>
            <a:r>
              <a:rPr lang="en-US" sz="2000" dirty="0">
                <a:solidFill>
                  <a:schemeClr val="tx1">
                    <a:lumMod val="65000"/>
                    <a:lumOff val="35000"/>
                  </a:schemeClr>
                </a:solidFill>
                <a:hlinkClick r:id="rId5"/>
              </a:rPr>
              <a:t>https://login.cloud.qdrant.io/</a:t>
            </a:r>
            <a:endParaRPr lang="en-US" sz="2000" dirty="0">
              <a:solidFill>
                <a:schemeClr val="tx1">
                  <a:lumMod val="65000"/>
                  <a:lumOff val="35000"/>
                </a:schemeClr>
              </a:solidFill>
            </a:endParaRPr>
          </a:p>
          <a:p>
            <a:pPr algn="l"/>
            <a:endParaRPr lang="en-US" sz="2000" dirty="0">
              <a:solidFill>
                <a:schemeClr val="tx1">
                  <a:lumMod val="65000"/>
                  <a:lumOff val="35000"/>
                </a:schemeClr>
              </a:solidFill>
            </a:endParaRPr>
          </a:p>
        </p:txBody>
      </p:sp>
    </p:spTree>
    <p:extLst>
      <p:ext uri="{BB962C8B-B14F-4D97-AF65-F5344CB8AC3E}">
        <p14:creationId xmlns:p14="http://schemas.microsoft.com/office/powerpoint/2010/main" val="2641603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38FA4-7487-63A9-61E8-18F88EFAB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A5514-5995-8DC1-0647-54B3F3183F68}"/>
              </a:ext>
            </a:extLst>
          </p:cNvPr>
          <p:cNvSpPr>
            <a:spLocks noGrp="1"/>
          </p:cNvSpPr>
          <p:nvPr>
            <p:ph type="ctrTitle"/>
          </p:nvPr>
        </p:nvSpPr>
        <p:spPr>
          <a:xfrm>
            <a:off x="1472608" y="1380564"/>
            <a:ext cx="4561369" cy="2346229"/>
          </a:xfrm>
        </p:spPr>
        <p:txBody>
          <a:bodyPr anchor="b">
            <a:normAutofit/>
          </a:bodyPr>
          <a:lstStyle/>
          <a:p>
            <a:r>
              <a:rPr lang="en-US" sz="3200" dirty="0">
                <a:solidFill>
                  <a:srgbClr val="595959"/>
                </a:solidFill>
              </a:rPr>
              <a:t>Thank You</a:t>
            </a:r>
          </a:p>
        </p:txBody>
      </p:sp>
      <p:pic>
        <p:nvPicPr>
          <p:cNvPr id="3" name="Picture 2">
            <a:extLst>
              <a:ext uri="{FF2B5EF4-FFF2-40B4-BE49-F238E27FC236}">
                <a16:creationId xmlns:a16="http://schemas.microsoft.com/office/drawing/2014/main" id="{36E63C7A-1B8E-5062-353C-DB080F2BD52E}"/>
              </a:ext>
            </a:extLst>
          </p:cNvPr>
          <p:cNvPicPr>
            <a:picLocks noChangeAspect="1"/>
          </p:cNvPicPr>
          <p:nvPr/>
        </p:nvPicPr>
        <p:blipFill>
          <a:blip r:embed="rId3"/>
          <a:stretch>
            <a:fillRect/>
          </a:stretch>
        </p:blipFill>
        <p:spPr>
          <a:xfrm>
            <a:off x="5283200" y="625967"/>
            <a:ext cx="6121729" cy="4851469"/>
          </a:xfrm>
          <a:prstGeom prst="rect">
            <a:avLst/>
          </a:prstGeom>
        </p:spPr>
      </p:pic>
    </p:spTree>
    <p:extLst>
      <p:ext uri="{BB962C8B-B14F-4D97-AF65-F5344CB8AC3E}">
        <p14:creationId xmlns:p14="http://schemas.microsoft.com/office/powerpoint/2010/main" val="3406617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7609</TotalTime>
  <Words>1189</Words>
  <Application>Microsoft Macintosh PowerPoint</Application>
  <PresentationFormat>Widescreen</PresentationFormat>
  <Paragraphs>145</Paragraphs>
  <Slides>30</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Aptos</vt:lpstr>
      <vt:lpstr>Aptos Display</vt:lpstr>
      <vt:lpstr>Arial</vt:lpstr>
      <vt:lpstr>Inter</vt:lpstr>
      <vt:lpstr>Office Theme</vt:lpstr>
      <vt:lpstr>Building Multi-Agent Systems</vt:lpstr>
      <vt:lpstr>Agenda</vt:lpstr>
      <vt:lpstr>Download the code</vt:lpstr>
      <vt:lpstr>Create Qdrant Account</vt:lpstr>
      <vt:lpstr>Foundations of AI Agents</vt:lpstr>
      <vt:lpstr>What are Agents?</vt:lpstr>
      <vt:lpstr>Categories of AI Agents</vt:lpstr>
      <vt:lpstr>Design Patterns in AI Agents</vt:lpstr>
      <vt:lpstr>How Agents Work ?</vt:lpstr>
      <vt:lpstr>Demo Time</vt:lpstr>
      <vt:lpstr>Multi-Agent System and Protocols</vt:lpstr>
      <vt:lpstr>Multi Agent Systems</vt:lpstr>
      <vt:lpstr>Agent2Agent &amp; MCP </vt:lpstr>
      <vt:lpstr>Use Cases of AI Agents</vt:lpstr>
      <vt:lpstr>PowerPoint Presentation</vt:lpstr>
      <vt:lpstr>Latest Market Trends</vt:lpstr>
      <vt:lpstr>Demo Time</vt:lpstr>
      <vt:lpstr>Context Aware Workflows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Mantha, Pavan</dc:creator>
  <cp:lastModifiedBy>Mantha, Pavan</cp:lastModifiedBy>
  <cp:revision>16</cp:revision>
  <dcterms:created xsi:type="dcterms:W3CDTF">2025-04-25T03:33:54Z</dcterms:created>
  <dcterms:modified xsi:type="dcterms:W3CDTF">2026-09-12T01:08:39Z</dcterms:modified>
</cp:coreProperties>
</file>